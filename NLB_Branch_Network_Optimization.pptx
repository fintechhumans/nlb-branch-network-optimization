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 Penetration %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Sheet1!$A$2:$A$28</c:f>
              <c:multiLvlStrCache>
                <c:ptCount val="27"/>
                <c:lvl>
                  <c:pt idx="0">
                    <c:v>Leposaviq</c:v>
                  </c:pt>
                  <c:pt idx="1">
                    <c:v>Zubin Potok</c:v>
                  </c:pt>
                  <c:pt idx="2">
                    <c:v>F.Kosove</c:v>
                  </c:pt>
                  <c:pt idx="3">
                    <c:v>Prizren</c:v>
                  </c:pt>
                  <c:pt idx="4">
                    <c:v>Malisheve</c:v>
                  </c:pt>
                  <c:pt idx="5">
                    <c:v>Vushtrri</c:v>
                  </c:pt>
                  <c:pt idx="6">
                    <c:v>Gjakove</c:v>
                  </c:pt>
                  <c:pt idx="7">
                    <c:v>Lipjan</c:v>
                  </c:pt>
                  <c:pt idx="8">
                    <c:v>Ferizaj</c:v>
                  </c:pt>
                  <c:pt idx="9">
                    <c:v>Suhareke</c:v>
                  </c:pt>
                  <c:pt idx="10">
                    <c:v>Rahovec</c:v>
                  </c:pt>
                  <c:pt idx="11">
                    <c:v>Kamenice</c:v>
                  </c:pt>
                  <c:pt idx="12">
                    <c:v>Gjilan</c:v>
                  </c:pt>
                  <c:pt idx="13">
                    <c:v>Kline</c:v>
                  </c:pt>
                  <c:pt idx="14">
                    <c:v>Viti</c:v>
                  </c:pt>
                  <c:pt idx="15">
                    <c:v>Skenderaj</c:v>
                  </c:pt>
                  <c:pt idx="16">
                    <c:v>Istog</c:v>
                  </c:pt>
                  <c:pt idx="17">
                    <c:v>Podujeve</c:v>
                  </c:pt>
                  <c:pt idx="18">
                    <c:v>Peje</c:v>
                  </c:pt>
                  <c:pt idx="19">
                    <c:v>Obiliq</c:v>
                  </c:pt>
                  <c:pt idx="20">
                    <c:v>Mitrovice</c:v>
                  </c:pt>
                  <c:pt idx="21">
                    <c:v>Gllogoc</c:v>
                  </c:pt>
                  <c:pt idx="22">
                    <c:v>Gracanice</c:v>
                  </c:pt>
                  <c:pt idx="23">
                    <c:v>Prishtine</c:v>
                  </c:pt>
                  <c:pt idx="24">
                    <c:v>Kacanik</c:v>
                  </c:pt>
                  <c:pt idx="25">
                    <c:v>Shterpc</c:v>
                  </c:pt>
                  <c:pt idx="26">
                    <c:v>Decan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4.6</c:v>
                </c:pt>
                <c:pt idx="1">
                  <c:v>6.3</c:v>
                </c:pt>
                <c:pt idx="2">
                  <c:v>13.3</c:v>
                </c:pt>
                <c:pt idx="3">
                  <c:v>14</c:v>
                </c:pt>
                <c:pt idx="4">
                  <c:v>13.6</c:v>
                </c:pt>
                <c:pt idx="5">
                  <c:v>13.7</c:v>
                </c:pt>
                <c:pt idx="6">
                  <c:v>14</c:v>
                </c:pt>
                <c:pt idx="7">
                  <c:v>14.2</c:v>
                </c:pt>
                <c:pt idx="8">
                  <c:v>16.1</c:v>
                </c:pt>
                <c:pt idx="9">
                  <c:v>16.4</c:v>
                </c:pt>
                <c:pt idx="10">
                  <c:v>16.9</c:v>
                </c:pt>
                <c:pt idx="11">
                  <c:v>16.9</c:v>
                </c:pt>
                <c:pt idx="12">
                  <c:v>17.3</c:v>
                </c:pt>
                <c:pt idx="13">
                  <c:v>18.2</c:v>
                </c:pt>
                <c:pt idx="14">
                  <c:v>18.5</c:v>
                </c:pt>
                <c:pt idx="15">
                  <c:v>19.2</c:v>
                </c:pt>
                <c:pt idx="16">
                  <c:v>19.4</c:v>
                </c:pt>
                <c:pt idx="17">
                  <c:v>19.5</c:v>
                </c:pt>
                <c:pt idx="18">
                  <c:v>22.8</c:v>
                </c:pt>
                <c:pt idx="19">
                  <c:v>23.8</c:v>
                </c:pt>
                <c:pt idx="20">
                  <c:v>23.7</c:v>
                </c:pt>
                <c:pt idx="21">
                  <c:v>24.3</c:v>
                </c:pt>
                <c:pt idx="22">
                  <c:v>24.9</c:v>
                </c:pt>
                <c:pt idx="23">
                  <c:v>26.9</c:v>
                </c:pt>
                <c:pt idx="24">
                  <c:v>28</c:v>
                </c:pt>
                <c:pt idx="25">
                  <c:v>33</c:v>
                </c:pt>
                <c:pt idx="26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Biz Penetration %</c:v>
                </c:pt>
              </c:strCache>
            </c:strRef>
          </c:tx>
          <c:spPr>
            <a:solidFill>
              <a:srgbClr val="38B2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Gjilan</c:v>
                  </c:pt>
                  <c:pt idx="1">
                    <c:v>Gjakove</c:v>
                  </c:pt>
                  <c:pt idx="2">
                    <c:v>Gracanice</c:v>
                  </c:pt>
                  <c:pt idx="3">
                    <c:v>Ferizaj</c:v>
                  </c:pt>
                  <c:pt idx="4">
                    <c:v>Rahovec</c:v>
                  </c:pt>
                  <c:pt idx="5">
                    <c:v>Vushtrri</c:v>
                  </c:pt>
                  <c:pt idx="6">
                    <c:v>Prizren</c:v>
                  </c:pt>
                  <c:pt idx="7">
                    <c:v>Podujeve</c:v>
                  </c:pt>
                  <c:pt idx="8">
                    <c:v>Suhareke</c:v>
                  </c:pt>
                  <c:pt idx="9">
                    <c:v>Peje</c:v>
                  </c:pt>
                  <c:pt idx="10">
                    <c:v>Mitrovice</c:v>
                  </c:pt>
                  <c:pt idx="11">
                    <c:v>Viti</c:v>
                  </c:pt>
                  <c:pt idx="12">
                    <c:v>Obiliq</c:v>
                  </c:pt>
                  <c:pt idx="13">
                    <c:v>Prishtine</c:v>
                  </c:pt>
                  <c:pt idx="14">
                    <c:v>Lipjan</c:v>
                  </c:pt>
                  <c:pt idx="15">
                    <c:v>F.Kosove</c:v>
                  </c:pt>
                  <c:pt idx="16">
                    <c:v>Gllogoc</c:v>
                  </c:pt>
                  <c:pt idx="17">
                    <c:v>Istog</c:v>
                  </c:pt>
                  <c:pt idx="18">
                    <c:v>Malisheve</c:v>
                  </c:pt>
                  <c:pt idx="19">
                    <c:v>Skenderaj</c:v>
                  </c:pt>
                  <c:pt idx="20">
                    <c:v>Kline</c:v>
                  </c:pt>
                  <c:pt idx="21">
                    <c:v>Kacanik</c:v>
                  </c:pt>
                  <c:pt idx="22">
                    <c:v>Decan</c:v>
                  </c:pt>
                  <c:pt idx="23">
                    <c:v>Shterpc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10.6</c:v>
                </c:pt>
                <c:pt idx="1">
                  <c:v>10.8</c:v>
                </c:pt>
                <c:pt idx="2">
                  <c:v>10.7</c:v>
                </c:pt>
                <c:pt idx="3">
                  <c:v>11.4</c:v>
                </c:pt>
                <c:pt idx="4">
                  <c:v>11.8</c:v>
                </c:pt>
                <c:pt idx="5">
                  <c:v>11.3</c:v>
                </c:pt>
                <c:pt idx="6">
                  <c:v>12.7</c:v>
                </c:pt>
                <c:pt idx="7">
                  <c:v>14.7</c:v>
                </c:pt>
                <c:pt idx="8">
                  <c:v>16.6</c:v>
                </c:pt>
                <c:pt idx="9">
                  <c:v>16.7</c:v>
                </c:pt>
                <c:pt idx="10">
                  <c:v>16.9</c:v>
                </c:pt>
                <c:pt idx="11">
                  <c:v>16.9</c:v>
                </c:pt>
                <c:pt idx="12">
                  <c:v>18.2</c:v>
                </c:pt>
                <c:pt idx="13">
                  <c:v>19.7</c:v>
                </c:pt>
                <c:pt idx="14">
                  <c:v>18.8</c:v>
                </c:pt>
                <c:pt idx="15">
                  <c:v>19.6</c:v>
                </c:pt>
                <c:pt idx="16">
                  <c:v>21.8</c:v>
                </c:pt>
                <c:pt idx="17">
                  <c:v>22.2</c:v>
                </c:pt>
                <c:pt idx="18">
                  <c:v>22</c:v>
                </c:pt>
                <c:pt idx="19">
                  <c:v>23.4</c:v>
                </c:pt>
                <c:pt idx="20">
                  <c:v>26.3</c:v>
                </c:pt>
                <c:pt idx="21">
                  <c:v>35</c:v>
                </c:pt>
                <c:pt idx="22">
                  <c:v>36.9</c:v>
                </c:pt>
                <c:pt idx="23">
                  <c:v>37.2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E75B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NLB KOSOVO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Network Optimization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Diagnostic &amp; Implementation Blueprint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38B2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74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Group CEO and CFO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March 2026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Confidential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0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findings, opportunities, and priorities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75104"/>
            <a:ext cx="457200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7510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9751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at a Glance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9751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branches, 240K clients, performance overview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395728"/>
            <a:ext cx="457200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9572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395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Variance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23957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penetration gap 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816352"/>
            <a:ext cx="457200" cy="329184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1635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8163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Segmentation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8163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archetypes driving different strategies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236976"/>
            <a:ext cx="45720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3697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32369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Interventions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32369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Prizren, Gjakove, and the business banking gap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45720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576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657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&amp; Product Opportunity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14800" y="3657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Migration, cross-sell, and POS expansion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078224"/>
            <a:ext cx="45720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7822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40782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&amp; Network Redesign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0" y="40782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grow, where to optimize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498848"/>
            <a:ext cx="457200" cy="3291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4988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4988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0" y="44988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to structural changes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Strategic Picture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554480" cy="118872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240,157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Clients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+3.9% YoY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280160"/>
            <a:ext cx="1554480" cy="118872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13,169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4884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Clients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884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+2.2% YoY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280160"/>
            <a:ext cx="1554480" cy="118872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Penetration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Pop &gt;15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32120" y="1280160"/>
            <a:ext cx="1554480" cy="118872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Penetration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Reg. Biz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554480" cy="1188720"/>
          </a:xfrm>
          <a:prstGeom prst="rect">
            <a:avLst/>
          </a:prstGeom>
          <a:solidFill>
            <a:srgbClr val="2E75B6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8288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223760" y="2148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active + 2 nascent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reaches only 19.2% of adults and 16.9% of businesses — leaving massive room for growth, particularly in territories where it already has physical presence.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26517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20440"/>
            <a:ext cx="2651760" cy="36576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Gap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Prizren: 14% penetration in Kosovo's 2nd largest city (147K people)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520440"/>
            <a:ext cx="26517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91840" y="3520440"/>
            <a:ext cx="265176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Crisis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2900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Gjakove: -14% business client loss, near-zero PI growth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3520440"/>
            <a:ext cx="265176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26480" y="3520440"/>
            <a:ext cx="2651760" cy="36576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Upside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6364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penetration gaps could add 15K-20K clients (+10-15% revenue)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Biggest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2179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Penetration Variance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887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penetration ranges from 4.6% to 53%. Prizren (147K pop) has the same rate as a village of 9K.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84832"/>
            <a:ext cx="54864" cy="62179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Divide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130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24048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M-Banking adoption varies from &lt;3% to &gt;7%. Low-adoption branches carry excess teller workloads.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98064"/>
            <a:ext cx="8229600" cy="62179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798064"/>
            <a:ext cx="54864" cy="62179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889504"/>
            <a:ext cx="411480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895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2843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 Cross-Sell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28437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[INFERENCE]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3118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Prishtine accounts for 36% of mortgages, 25% of credit cards. Regional branches have minimal product depth.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11296"/>
            <a:ext cx="82296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11296"/>
            <a:ext cx="54864" cy="621792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602736"/>
            <a:ext cx="411480" cy="4114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Banking Gap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35570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[DATA]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88720" y="3831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16.9% of businesses banked. Four major cities have 19,291 unserved businesses.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224528"/>
            <a:ext cx="54864" cy="621792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315968"/>
            <a:ext cx="411480" cy="41148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15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Gjakove in Crisis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389120" y="4270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[DATA]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8872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14% of business clients and added only 10 PI clients in a year. Immediate intervention needed.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 Penetration by Branch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 Clients / Population &gt;15 — Network Average: 19.2%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371600"/>
          <a:ext cx="8595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417320"/>
            <a:ext cx="1371600" cy="320040"/>
          </a:xfrm>
          <a:prstGeom prst="rect">
            <a:avLst/>
          </a:prstGeom>
          <a:solidFill>
            <a:srgbClr val="F56565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Avg: 19.2%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 Segmentation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archetypes based on penetration, growth, product depth, digital maturity, and territory potential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7772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00200"/>
            <a:ext cx="320040" cy="27432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Hub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828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anchor. 32% of biz clients. Deep product mix.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Prishtine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77440"/>
            <a:ext cx="54864" cy="77724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468880"/>
            <a:ext cx="320040" cy="2743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68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Branches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697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penetration (28-53%). Best practice models.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2898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Decan, Kacanik, Hani i Elezit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54864" cy="7772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337560"/>
            <a:ext cx="32004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337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3566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Above-avg penetration. Mature markets. Defend.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37673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Gllogoc, Istog, Skenderaj, Kline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206240"/>
            <a:ext cx="320040" cy="2743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Engines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434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Below-avg pen but positive growth. Investment targets.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" y="4636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branches incl. Ferizaj, Gjilan, Podujeve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50876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508760"/>
            <a:ext cx="54864" cy="77724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1600200"/>
            <a:ext cx="320040" cy="2743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Potential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18288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cities, critically low penetration. Biggest opportunity.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20299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Prizren, Gjakove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37744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377440"/>
            <a:ext cx="54864" cy="77724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3" name="Shape 41"/>
          <p:cNvSpPr/>
          <p:nvPr/>
        </p:nvSpPr>
        <p:spPr>
          <a:xfrm>
            <a:off x="4937760" y="2468880"/>
            <a:ext cx="320040" cy="274320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246888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4924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Regional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2697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Mid-range. Solid but need product &amp; digital push.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49240" y="2898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Peje, Mitrovice, Viti, Obiliq, Rahovec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3246120"/>
            <a:ext cx="4114800" cy="77724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246120"/>
            <a:ext cx="54864" cy="77724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50" name="Shape 48"/>
          <p:cNvSpPr/>
          <p:nvPr/>
        </p:nvSpPr>
        <p:spPr>
          <a:xfrm>
            <a:off x="4937760" y="3337560"/>
            <a:ext cx="320040" cy="274320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3337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3492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Outliers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3566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dynamics. Tailored strategies required.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49240" y="37673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Mit.Veriore, Gracanice, Shterpc + 2 nascent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INTERVENTION REQUIRED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Underperformers: Prizren &amp; Gjakove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PRIZREN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Kosovo's 2nd Largest City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147,246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Penetration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Penetration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Client Change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 (-4.2%)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Terminals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Growth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+6,932 PI clients to reach 20% pen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GJAKOVE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— Business Client Crisis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78,699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24323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Penetration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432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Penetration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090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Client Change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4088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-70 (-14.0%)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419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Terminals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Growth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206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Audit team within 2 weeks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Banking: The Untapped Opportunity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solidFill>
            <a:srgbClr val="1F4E7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businesses banked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64,543 unserved businesses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474720" y="118872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2926080"/>
            <a:ext cx="2743200" cy="16459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175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1pp of business penetration gain = ~777 new clients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business client generates 3-5x the revenue of a PI client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20% by end 2027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Migration &amp; Product Opportunity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Migration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Kosovo system: 55% e-banking penetration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M-Banking adoption varies from &lt;3% to &gt;7%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branches below 4% M-Banking rate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all branches to 5% would free 3-5 FTE for redeployment to sales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cost-to-income improvement: 2-4pp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Mandate M-Banking activation at every client touchpoint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Cross-Sell Gap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Prishtine dominates product depth: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36.1% of all mortgages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 of consumer loans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24.9% of credit cards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44.7% of all POS terminals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regional branches: &lt;1% CC penetration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lending at 11.3% — significant room to grow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6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deserts in Gjakove (60), Obiliq (11), Shterpc (9)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 &amp; Network Redesign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5029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markets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Underperforming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3474720"/>
          </a:xfrm>
          <a:prstGeom prst="rect">
            <a:avLst/>
          </a:prstGeom>
          <a:solidFill>
            <a:srgbClr val="EDF2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26974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format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192024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1: DRAGASH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28,896 pop | 652 biz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Light-format branch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2: SHTIME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24,308 pop | 802 biz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point / satellite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other municipalities: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Digital-only or agent banking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192024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PRIZREN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2 business RMs, POS blitz, possible satellite in commercial district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GJAKOVE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review. Consider RM replacement. POS deployment. Retention program.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RAHOVEC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push, POS expansion, product cross-sell activation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Light-format candidates: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Zubin Potok → 2 days/week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Leposaviq → Monitor 12M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Shterpc → Appointment-based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Gracanice → Biz advisory center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48B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Savings: 4-6 FTE + EUR 100-200K annually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NLB Kosovo | Branch Network Optimization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5029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Wins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Months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Gjakove emergency 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Prizren commercial campaign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843784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43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M-Banking activation mandate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282696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acquisition sprint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21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dashboard deployment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client retention program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280160"/>
            <a:ext cx="269748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Medium-Term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3756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3–12 Months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1965960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RM deployment (6 cities)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2404872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cross-sell program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2843784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843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rebalancing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3282696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lending push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29000" y="3721608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3721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campaign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29000" y="4160520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Shtime/Dragash entry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28016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1280160"/>
            <a:ext cx="2697480" cy="502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12984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Structural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17920" y="1572768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Months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1965960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1965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format redesign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09360" y="2404872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4048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model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09360" y="2843784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2843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Digital-first small branches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3282696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2826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Portfolio-based RM model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309360" y="3721608"/>
            <a:ext cx="2514600" cy="3657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37216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Branch-level P&amp;L system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9360" y="4160520"/>
            <a:ext cx="2514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4160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expansion execution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46120" y="2743200"/>
            <a:ext cx="45720" cy="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54" name="Shape 52"/>
          <p:cNvSpPr/>
          <p:nvPr/>
        </p:nvSpPr>
        <p:spPr>
          <a:xfrm>
            <a:off x="6126480" y="2743200"/>
            <a:ext cx="45720" cy="0"/>
          </a:xfrm>
          <a:prstGeom prst="rect">
            <a:avLst/>
          </a:prstGeom>
          <a:solidFill>
            <a:srgbClr val="4A556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for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CEO/CFO should ask after reviewing this report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Prizren have 14% penetration in a city of 147,000? What has been done in the past 3 years?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64208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64208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6420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in Gjakove that caused us to lose 14% of business clients in one year?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39696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139696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396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13969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business banking penetration only 16.9% when we have 29 branches? What is the RM coverage?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615184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1518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61518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cost-to-income ratio per branch? Without this, we cannot optimize the network.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90672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090672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906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09067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tellers handle &lt;20 transactions/day? Could they be redeployed to sales?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66160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6616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56616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have branch-level digital adoption targets? If not, why not?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4041648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416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04164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was the last competitive branch mapping? Do we know where competitors gain share?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17136"/>
            <a:ext cx="8229600" cy="40233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517136"/>
            <a:ext cx="54864" cy="40233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171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51560" y="451713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branch-level P&amp;L within 6 months? This is our most critical data gap.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E75B6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2743200" cy="0"/>
          </a:xfrm>
          <a:prstGeom prst="line">
            <a:avLst/>
          </a:prstGeom>
          <a:noFill/>
          <a:ln w="25400">
            <a:solidFill>
              <a:srgbClr val="38B2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Gjakove and Prizren intervention budget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branch-level KPI scorecard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240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560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branch-level P&amp;L feasibility study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1089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network-wide M-Banking activation program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337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65760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657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657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business banking acceleration plan to 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8862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457200" cy="41148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062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206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workforce rebalancing assessment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434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2062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branch network is NLB's most valuable physical asset.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it is the highest-ROI initiative available.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NLB Kosovo Branch Network Optimization</dc:title>
  <dc:subject>PptxGenJS Presentation</dc:subject>
  <dc:creator>NLB Kosovo Strategy Team</dc:creator>
  <cp:lastModifiedBy>NLB Kosovo Strategy Team</cp:lastModifiedBy>
  <cp:revision>1</cp:revision>
  <dcterms:created xsi:type="dcterms:W3CDTF">2026-03-26T19:37:34Z</dcterms:created>
  <dcterms:modified xsi:type="dcterms:W3CDTF">2026-03-26T19:37:34Z</dcterms:modified>
</cp:coreProperties>
</file>