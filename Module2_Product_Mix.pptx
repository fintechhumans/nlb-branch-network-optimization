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PRODUCT MIX OVERVIEW</a:t>
            </a:r>
          </a:p>
          <a:p/>
          <a:p>
            <a:r>
              <a:t>KEY POINTS:</a:t>
            </a:r>
          </a:p>
          <a:p>
            <a:r>
              <a:t>- Consumer loan penetration median is 5.7%. Prizren (3.2%), Besiane (3.6%), Viti (3.5%), Decan (3.5%) are the worst.</a:t>
            </a:r>
          </a:p>
          <a:p>
            <a:r>
              <a:t>- TDA dependency: Prizren 2 (56.8%), Gjakove (54.4%), Fushe Kosove (50.0%) exceed 50% threshold.</a:t>
            </a:r>
          </a:p>
          <a:p>
            <a:r>
              <a:t>- Five branches have ZERO POS: 1001 Prishtine, Prizren 2, Prishtine-Llapit, Bregu i Diellit, Mitrovice 2.</a:t>
            </a:r>
          </a:p>
          <a:p>
            <a:r>
              <a:t>  1001 Prishtine alone sits in a market with 21,396 businesses and has zero POS terminals — this is the single largest</a:t>
            </a:r>
          </a:p>
          <a:p>
            <a:r>
              <a:t>  merchant-acquiring gap in the network.</a:t>
            </a:r>
          </a:p>
          <a:p/>
          <a:p>
            <a:r>
              <a:t>PRICING DATA NOTE:</a:t>
            </a:r>
          </a:p>
          <a:p>
            <a:r>
              <a:t>No pricing or rate data exists in any source file. All funding-cost recommendations are based on the structural</a:t>
            </a:r>
          </a:p>
          <a:p>
            <a:r>
              <a:t>hierarchy: TDA is the most expensive PI funding source &gt; Savings &gt; CA. Specific rate spreads cannot be quantified.</a:t>
            </a:r>
          </a:p>
          <a:p>
            <a:r>
              <a:t>If management wants rate-based analysis, pricing data must be provided separately.</a:t>
            </a:r>
          </a:p>
          <a:p/>
          <a:p>
            <a:r>
              <a:t>IMPORTANT DISTINCTIONS:</a:t>
            </a:r>
          </a:p>
          <a:p>
            <a:r>
              <a:t>- Consumer loan counts are FLOW (2025 new production), not stock</a:t>
            </a:r>
          </a:p>
          <a:p>
            <a:r>
              <a:t>- Consumer loan penetration = flow / active base — measures sales intensity</a:t>
            </a:r>
          </a:p>
          <a:p>
            <a:r>
              <a:t>- TDA/CA/SA percentages are STOCK (current balances), not flows</a:t>
            </a:r>
          </a:p>
          <a:p>
            <a:r>
              <a:t>- Do not confuse the two — one is sales effort, the other is portfolio structure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CONSUMER LOAN GROWTH</a:t>
            </a:r>
          </a:p>
          <a:p/>
          <a:p>
            <a:r>
              <a:t>PRIORITY ACTIONS:</a:t>
            </a:r>
          </a:p>
          <a:p>
            <a:r>
              <a:t>1. Prizren (3.2%): 11,562 active clients but only 368 consumer loans. Lowest main Filiali. Needs dedicated CL campaign.</a:t>
            </a:r>
          </a:p>
          <a:p>
            <a:r>
              <a:t>2. Besiane/Podujeve (3.6%): 10,497 active, only 380 CL. Has 9 FTE. Capacity exists.</a:t>
            </a:r>
          </a:p>
          <a:p>
            <a:r>
              <a:t>3. Decan (3.5%): 7,528 active, only 265 CL. High M-Banking (51.8%) = can target digitally.</a:t>
            </a:r>
          </a:p>
          <a:p>
            <a:r>
              <a:t>4. Viti (3.5%): 5,141 active, only 182 CL. Small team (5 FTE) may be capacity-constrained.</a:t>
            </a:r>
          </a:p>
          <a:p>
            <a:r>
              <a:t>5. Mitrovice (3.9%): 8,497 active, only 333 CL. Main Filiali with 9 FTE — underperforming.</a:t>
            </a:r>
          </a:p>
          <a:p/>
          <a:p>
            <a:r>
              <a:t>STRONG PERFORMERS TO PROTECT:</a:t>
            </a:r>
          </a:p>
          <a:p>
            <a:r>
              <a:t>- Bregu i Diellit (16.7%): Small branch but exceptional CL penetration</a:t>
            </a:r>
          </a:p>
          <a:p>
            <a:r>
              <a:t>- Hani i Elezit (10.1%): Consistently strong across all metrics</a:t>
            </a:r>
          </a:p>
          <a:p>
            <a:r>
              <a:t>- Fushe Kosove (9.8%): Strong CL despite TDA dependency issue</a:t>
            </a:r>
          </a:p>
          <a:p/>
          <a:p>
            <a:r>
              <a:t>NOTE: CL penetration = 2025 new production / active base. This is flow intensity, not portfolio share.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FUNDING MIX</a:t>
            </a:r>
          </a:p>
          <a:p/>
          <a:p>
            <a:r>
              <a:t>TDA MODERATION TARGETS:</a:t>
            </a:r>
          </a:p>
          <a:p>
            <a:r>
              <a:t>- Prizren 2: 56.8% TDA — most TDA-dependent branch. Shift to CA/salary targeting.</a:t>
            </a:r>
          </a:p>
          <a:p>
            <a:r>
              <a:t>- Gjakove: 54.4% TDA — large Filiali, 10 FTE. Should be achievable with commercial redirect.</a:t>
            </a:r>
          </a:p>
          <a:p>
            <a:r>
              <a:t>- Fushe Kosove: 50.0% TDA — despite strong consumer lending (9.8%), funding mix is inefficient.</a:t>
            </a:r>
          </a:p>
          <a:p/>
          <a:p>
            <a:r>
              <a:t>LOW-COST FUNDING BENCHMARKS:</a:t>
            </a:r>
          </a:p>
          <a:p>
            <a:r>
              <a:t>- Shterpce: 73.9% CA — best in network</a:t>
            </a:r>
          </a:p>
          <a:p>
            <a:r>
              <a:t>- Lipjan: 70.6% CA — model for ekspoziture</a:t>
            </a:r>
          </a:p>
          <a:p>
            <a:r>
              <a:t>- Skenderaj: 69.1% CA</a:t>
            </a:r>
          </a:p>
          <a:p>
            <a:r>
              <a:t>- Kacanik: 68.8% CA</a:t>
            </a:r>
          </a:p>
          <a:p>
            <a:r>
              <a:t>These branches prove that &gt;65% CA share is achievable in Kosovo's market.</a:t>
            </a:r>
          </a:p>
          <a:p/>
          <a:p>
            <a:r>
              <a:t>DATA LIMITATION: No interest rate data exists in any source file. TDA &gt; SA &gt; CA cost hierarchy</a:t>
            </a:r>
          </a:p>
          <a:p>
            <a:r>
              <a:t>is structural knowledge, not rate-calculated. If management wants specific NIM impact analysis,</a:t>
            </a:r>
          </a:p>
          <a:p>
            <a:r>
              <a:t>rate data must be provided.</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POS &amp; MERCHANT ACQUIRING</a:t>
            </a:r>
          </a:p>
          <a:p/>
          <a:p>
            <a:r>
              <a:t>ZERO-POS BRANCHES (DEPLOY IMMEDIATELY):</a:t>
            </a:r>
          </a:p>
          <a:p>
            <a:r>
              <a:t>1. 1001 Prishtine: 21,396 businesses, 18 FTE, ZERO POS. Largest single gap.</a:t>
            </a:r>
          </a:p>
          <a:p>
            <a:r>
              <a:t>2. Prizren 2 (100504): 7,119 businesses, 6 FTE, ZERO POS.</a:t>
            </a:r>
          </a:p>
          <a:p>
            <a:r>
              <a:t>3. Prishtine-Llapit (000102): Shares Prishtine market, 6 FTE, ZERO POS.</a:t>
            </a:r>
          </a:p>
          <a:p>
            <a:r>
              <a:t>4. Bregu i Diellit (000110): Shares Prishtine market, 4 FTE, ZERO POS.</a:t>
            </a:r>
          </a:p>
          <a:p>
            <a:r>
              <a:t>5. Mitrovice 2 (100704): 2,529 businesses, 5 FTE, ZERO POS.</a:t>
            </a:r>
          </a:p>
          <a:p/>
          <a:p>
            <a:r>
              <a:t>TOP POS DENSITY (DEFEND &amp; REPLICATE):</a:t>
            </a:r>
          </a:p>
          <a:p>
            <a:r>
              <a:t>- Peje: 10.1% (421/4,172) — best in network</a:t>
            </a:r>
          </a:p>
          <a:p>
            <a:r>
              <a:t>- Hani i Elezit: 9.6% (27/282)</a:t>
            </a:r>
          </a:p>
          <a:p>
            <a:r>
              <a:t>- Prishtine 0001: 8.0% (1,705/21,396) — shows Prishtine CAN do merchant acquiring</a:t>
            </a:r>
          </a:p>
          <a:p>
            <a:r>
              <a:t>- Fushe Kosove: 7.4% (201/2,711)</a:t>
            </a:r>
          </a:p>
          <a:p/>
          <a:p>
            <a:r>
              <a:t>POS GROWTH STRATEGY:</a:t>
            </a:r>
          </a:p>
          <a:p>
            <a:r>
              <a:t>- POS is a business-client acquisition tool, not just payments infrastructure</a:t>
            </a:r>
          </a:p>
          <a:p>
            <a:r>
              <a:t>- Each POS terminal creates a recurring revenue relationship</a:t>
            </a:r>
          </a:p>
          <a:p>
            <a:r>
              <a:t>- POS density correlates with business client retention and cashless transaction share</a:t>
            </a:r>
          </a:p>
          <a:p>
            <a:r>
              <a:t>- Recommend minimum 3% density target for all branches within 12 months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144000" cy="365760"/>
          </a:xfrm>
          <a:prstGeom prst="rect">
            <a:avLst/>
          </a:prstGeom>
          <a:noFill/>
        </p:spPr>
        <p:txBody>
          <a:bodyPr wrap="square">
            <a:spAutoFit/>
          </a:bodyPr>
          <a:lstStyle/>
          <a:p>
            <a:pPr algn="l">
              <a:defRPr sz="2000" b="1">
                <a:solidFill>
                  <a:srgbClr val="FFFFFF"/>
                </a:solidFill>
              </a:defRPr>
            </a:pPr>
            <a:r>
              <a:t>MODULE 2 — PRODUCT MIX &amp; FUNDING STRATEGY</a:t>
            </a:r>
          </a:p>
        </p:txBody>
      </p:sp>
      <p:sp>
        <p:nvSpPr>
          <p:cNvPr id="4" name="TextBox 3"/>
          <p:cNvSpPr txBox="1"/>
          <p:nvPr/>
        </p:nvSpPr>
        <p:spPr>
          <a:xfrm>
            <a:off x="457200" y="475488"/>
            <a:ext cx="9144000" cy="274320"/>
          </a:xfrm>
          <a:prstGeom prst="rect">
            <a:avLst/>
          </a:prstGeom>
          <a:noFill/>
        </p:spPr>
        <p:txBody>
          <a:bodyPr wrap="square">
            <a:spAutoFit/>
          </a:bodyPr>
          <a:lstStyle/>
          <a:p>
            <a:pPr algn="l">
              <a:defRPr sz="1000" b="0">
                <a:solidFill>
                  <a:srgbClr val="A0BCD8"/>
                </a:solidFill>
              </a:defRPr>
            </a:pPr>
            <a:r>
              <a:t>NLB Prishtina | Consumer Loans, Deposit Mix, POS, Digital Adoption</a:t>
            </a:r>
          </a:p>
        </p:txBody>
      </p:sp>
      <p:sp>
        <p:nvSpPr>
          <p:cNvPr id="5" name="Rectangle 4"/>
          <p:cNvSpPr/>
          <p:nvPr/>
        </p:nvSpPr>
        <p:spPr>
          <a:xfrm>
            <a:off x="365760" y="1005840"/>
            <a:ext cx="11430000" cy="594360"/>
          </a:xfrm>
          <a:prstGeom prst="rect">
            <a:avLst/>
          </a:prstGeom>
          <a:solidFill>
            <a:srgbClr val="F0F4F8"/>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000" b="1">
                <a:solidFill>
                  <a:srgbClr val="002B49"/>
                </a:solidFill>
              </a:rPr>
              <a:t>EXECUTIVE INSIGHT:  </a:t>
            </a:r>
            <a:r>
              <a:rPr sz="900">
                <a:solidFill>
                  <a:srgbClr val="1A1A2E"/>
                </a:solidFill>
              </a:rPr>
              <a:t>Consumer loan penetration averages 5.7% — half the network is below. Three branches exceed 50% TDA dependency (Gjakove, Prizren 2, Fushe Kosove). Five branches have zero POS terminals including 1001 Prishtine serving 21,396 businesses. No pricing/rate data is available in source — funding cost logic is directional.</a:t>
            </a:r>
          </a:p>
        </p:txBody>
      </p:sp>
      <p:sp>
        <p:nvSpPr>
          <p:cNvPr id="6" name="Rectangle 5"/>
          <p:cNvSpPr/>
          <p:nvPr/>
        </p:nvSpPr>
        <p:spPr>
          <a:xfrm>
            <a:off x="365760" y="1828800"/>
            <a:ext cx="3474720" cy="777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828800"/>
            <a:ext cx="54864" cy="77724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01952"/>
            <a:ext cx="3108960" cy="182880"/>
          </a:xfrm>
          <a:prstGeom prst="rect">
            <a:avLst/>
          </a:prstGeom>
          <a:noFill/>
        </p:spPr>
        <p:txBody>
          <a:bodyPr wrap="square">
            <a:spAutoFit/>
          </a:bodyPr>
          <a:lstStyle/>
          <a:p>
            <a:pPr algn="l">
              <a:defRPr sz="800" b="1">
                <a:solidFill>
                  <a:srgbClr val="64748B"/>
                </a:solidFill>
              </a:defRPr>
            </a:pPr>
            <a:r>
              <a:t>CONSUMER LOAN PENETRATION</a:t>
            </a:r>
          </a:p>
        </p:txBody>
      </p:sp>
      <p:sp>
        <p:nvSpPr>
          <p:cNvPr id="9" name="TextBox 8"/>
          <p:cNvSpPr txBox="1"/>
          <p:nvPr/>
        </p:nvSpPr>
        <p:spPr>
          <a:xfrm>
            <a:off x="548640" y="2084832"/>
            <a:ext cx="3108960" cy="274320"/>
          </a:xfrm>
          <a:prstGeom prst="rect">
            <a:avLst/>
          </a:prstGeom>
          <a:noFill/>
        </p:spPr>
        <p:txBody>
          <a:bodyPr wrap="square">
            <a:spAutoFit/>
          </a:bodyPr>
          <a:lstStyle/>
          <a:p>
            <a:pPr algn="l">
              <a:defRPr sz="2200" b="1">
                <a:solidFill>
                  <a:srgbClr val="002B49"/>
                </a:solidFill>
              </a:defRPr>
            </a:pPr>
            <a:r>
              <a:t>5.7%</a:t>
            </a:r>
          </a:p>
        </p:txBody>
      </p:sp>
      <p:sp>
        <p:nvSpPr>
          <p:cNvPr id="10" name="TextBox 9"/>
          <p:cNvSpPr txBox="1"/>
          <p:nvPr/>
        </p:nvSpPr>
        <p:spPr>
          <a:xfrm>
            <a:off x="548640" y="2395728"/>
            <a:ext cx="3108960" cy="182880"/>
          </a:xfrm>
          <a:prstGeom prst="rect">
            <a:avLst/>
          </a:prstGeom>
          <a:noFill/>
        </p:spPr>
        <p:txBody>
          <a:bodyPr wrap="square">
            <a:spAutoFit/>
          </a:bodyPr>
          <a:lstStyle/>
          <a:p>
            <a:pPr algn="l">
              <a:defRPr sz="800" b="0">
                <a:solidFill>
                  <a:srgbClr val="64748B"/>
                </a:solidFill>
              </a:defRPr>
            </a:pPr>
            <a:r>
              <a:t>Median: consumer loans / active PI clients</a:t>
            </a:r>
          </a:p>
        </p:txBody>
      </p:sp>
      <p:sp>
        <p:nvSpPr>
          <p:cNvPr id="11" name="Rectangle 10"/>
          <p:cNvSpPr/>
          <p:nvPr/>
        </p:nvSpPr>
        <p:spPr>
          <a:xfrm>
            <a:off x="4114800" y="1828800"/>
            <a:ext cx="3474720" cy="777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0" y="1828800"/>
            <a:ext cx="54864" cy="7772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1901952"/>
            <a:ext cx="3108960" cy="182880"/>
          </a:xfrm>
          <a:prstGeom prst="rect">
            <a:avLst/>
          </a:prstGeom>
          <a:noFill/>
        </p:spPr>
        <p:txBody>
          <a:bodyPr wrap="square">
            <a:spAutoFit/>
          </a:bodyPr>
          <a:lstStyle/>
          <a:p>
            <a:pPr algn="l">
              <a:defRPr sz="800" b="1">
                <a:solidFill>
                  <a:srgbClr val="64748B"/>
                </a:solidFill>
              </a:defRPr>
            </a:pPr>
            <a:r>
              <a:t>TDA SHARE (PI DEPOSITS)</a:t>
            </a:r>
          </a:p>
        </p:txBody>
      </p:sp>
      <p:sp>
        <p:nvSpPr>
          <p:cNvPr id="14" name="TextBox 13"/>
          <p:cNvSpPr txBox="1"/>
          <p:nvPr/>
        </p:nvSpPr>
        <p:spPr>
          <a:xfrm>
            <a:off x="4297680" y="2084832"/>
            <a:ext cx="3108960" cy="274320"/>
          </a:xfrm>
          <a:prstGeom prst="rect">
            <a:avLst/>
          </a:prstGeom>
          <a:noFill/>
        </p:spPr>
        <p:txBody>
          <a:bodyPr wrap="square">
            <a:spAutoFit/>
          </a:bodyPr>
          <a:lstStyle/>
          <a:p>
            <a:pPr algn="l">
              <a:defRPr sz="2200" b="1">
                <a:solidFill>
                  <a:srgbClr val="D97706"/>
                </a:solidFill>
              </a:defRPr>
            </a:pPr>
            <a:r>
              <a:t>36.6%</a:t>
            </a:r>
          </a:p>
        </p:txBody>
      </p:sp>
      <p:sp>
        <p:nvSpPr>
          <p:cNvPr id="15" name="TextBox 14"/>
          <p:cNvSpPr txBox="1"/>
          <p:nvPr/>
        </p:nvSpPr>
        <p:spPr>
          <a:xfrm>
            <a:off x="4297680" y="2395728"/>
            <a:ext cx="3108960" cy="182880"/>
          </a:xfrm>
          <a:prstGeom prst="rect">
            <a:avLst/>
          </a:prstGeom>
          <a:noFill/>
        </p:spPr>
        <p:txBody>
          <a:bodyPr wrap="square">
            <a:spAutoFit/>
          </a:bodyPr>
          <a:lstStyle/>
          <a:p>
            <a:pPr algn="l">
              <a:defRPr sz="800" b="0">
                <a:solidFill>
                  <a:srgbClr val="64748B"/>
                </a:solidFill>
              </a:defRPr>
            </a:pPr>
            <a:r>
              <a:t>Median. 3 branches above 50%</a:t>
            </a:r>
          </a:p>
        </p:txBody>
      </p:sp>
      <p:sp>
        <p:nvSpPr>
          <p:cNvPr id="16" name="Rectangle 15"/>
          <p:cNvSpPr/>
          <p:nvPr/>
        </p:nvSpPr>
        <p:spPr>
          <a:xfrm>
            <a:off x="7863840" y="1828800"/>
            <a:ext cx="3474720" cy="777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63840" y="1828800"/>
            <a:ext cx="54864" cy="7772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0" y="1901952"/>
            <a:ext cx="3108960" cy="182880"/>
          </a:xfrm>
          <a:prstGeom prst="rect">
            <a:avLst/>
          </a:prstGeom>
          <a:noFill/>
        </p:spPr>
        <p:txBody>
          <a:bodyPr wrap="square">
            <a:spAutoFit/>
          </a:bodyPr>
          <a:lstStyle/>
          <a:p>
            <a:pPr algn="l">
              <a:defRPr sz="800" b="1">
                <a:solidFill>
                  <a:srgbClr val="64748B"/>
                </a:solidFill>
              </a:defRPr>
            </a:pPr>
            <a:r>
              <a:t>POS NETWORK TERMINALS</a:t>
            </a:r>
          </a:p>
        </p:txBody>
      </p:sp>
      <p:sp>
        <p:nvSpPr>
          <p:cNvPr id="19" name="TextBox 18"/>
          <p:cNvSpPr txBox="1"/>
          <p:nvPr/>
        </p:nvSpPr>
        <p:spPr>
          <a:xfrm>
            <a:off x="8046720" y="2084832"/>
            <a:ext cx="3108960" cy="274320"/>
          </a:xfrm>
          <a:prstGeom prst="rect">
            <a:avLst/>
          </a:prstGeom>
          <a:noFill/>
        </p:spPr>
        <p:txBody>
          <a:bodyPr wrap="square">
            <a:spAutoFit/>
          </a:bodyPr>
          <a:lstStyle/>
          <a:p>
            <a:pPr algn="l">
              <a:defRPr sz="2200" b="1">
                <a:solidFill>
                  <a:srgbClr val="0D9488"/>
                </a:solidFill>
              </a:defRPr>
            </a:pPr>
            <a:r>
              <a:t>3,819</a:t>
            </a:r>
          </a:p>
        </p:txBody>
      </p:sp>
      <p:sp>
        <p:nvSpPr>
          <p:cNvPr id="20" name="TextBox 19"/>
          <p:cNvSpPr txBox="1"/>
          <p:nvPr/>
        </p:nvSpPr>
        <p:spPr>
          <a:xfrm>
            <a:off x="8046720" y="2395728"/>
            <a:ext cx="3108960" cy="182880"/>
          </a:xfrm>
          <a:prstGeom prst="rect">
            <a:avLst/>
          </a:prstGeom>
          <a:noFill/>
        </p:spPr>
        <p:txBody>
          <a:bodyPr wrap="square">
            <a:spAutoFit/>
          </a:bodyPr>
          <a:lstStyle/>
          <a:p>
            <a:pPr algn="l">
              <a:defRPr sz="800" b="0">
                <a:solidFill>
                  <a:srgbClr val="64748B"/>
                </a:solidFill>
              </a:defRPr>
            </a:pPr>
            <a:r>
              <a:t>Density: 2.6% of ~148K businesses</a:t>
            </a:r>
          </a:p>
        </p:txBody>
      </p:sp>
      <p:sp>
        <p:nvSpPr>
          <p:cNvPr id="21" name="TextBox 20"/>
          <p:cNvSpPr txBox="1"/>
          <p:nvPr/>
        </p:nvSpPr>
        <p:spPr>
          <a:xfrm>
            <a:off x="365760" y="2834640"/>
            <a:ext cx="10972800" cy="274320"/>
          </a:xfrm>
          <a:prstGeom prst="rect">
            <a:avLst/>
          </a:prstGeom>
          <a:noFill/>
        </p:spPr>
        <p:txBody>
          <a:bodyPr wrap="square">
            <a:spAutoFit/>
          </a:bodyPr>
          <a:lstStyle/>
          <a:p>
            <a:pPr algn="l">
              <a:defRPr sz="1100" b="1">
                <a:solidFill>
                  <a:srgbClr val="002B49"/>
                </a:solidFill>
              </a:defRPr>
            </a:pPr>
            <a:r>
              <a:t>CRITICAL PRODUCT MIX ISSUES BY BRANCH</a:t>
            </a:r>
          </a:p>
        </p:txBody>
      </p:sp>
      <p:graphicFrame>
        <p:nvGraphicFramePr>
          <p:cNvPr id="22" name="Table 21"/>
          <p:cNvGraphicFramePr>
            <a:graphicFrameLocks noGrp="1"/>
          </p:cNvGraphicFramePr>
          <p:nvPr/>
        </p:nvGraphicFramePr>
        <p:xfrm>
          <a:off x="365760" y="3108960"/>
          <a:ext cx="11430000" cy="3474720"/>
        </p:xfrm>
        <a:graphic>
          <a:graphicData uri="http://schemas.openxmlformats.org/drawingml/2006/table">
            <a:tbl>
              <a:tblPr firstRow="1" bandRow="1">
                <a:tableStyleId>{5C22544A-7EE6-4342-B048-85BDC9FD1C3A}</a:tableStyleId>
              </a:tblPr>
              <a:tblGrid>
                <a:gridCol w="2286000"/>
                <a:gridCol w="2286000"/>
                <a:gridCol w="2011680"/>
                <a:gridCol w="1828800"/>
                <a:gridCol w="3017520"/>
              </a:tblGrid>
              <a:tr h="386080">
                <a:tc>
                  <a:txBody>
                    <a:bodyPr/>
                    <a:lstStyle/>
                    <a:p>
                      <a:pPr>
                        <a:defRPr sz="800" b="1">
                          <a:solidFill>
                            <a:srgbClr val="FFFFFF"/>
                          </a:solidFill>
                        </a:defRPr>
                      </a:pPr>
                      <a:r>
                        <a:t>Branch</a:t>
                      </a:r>
                    </a:p>
                  </a:txBody>
                  <a:tcPr>
                    <a:solidFill>
                      <a:srgbClr val="002B49"/>
                    </a:solidFill>
                  </a:tcPr>
                </a:tc>
                <a:tc>
                  <a:txBody>
                    <a:bodyPr/>
                    <a:lstStyle/>
                    <a:p>
                      <a:pPr>
                        <a:defRPr sz="800" b="1">
                          <a:solidFill>
                            <a:srgbClr val="FFFFFF"/>
                          </a:solidFill>
                        </a:defRPr>
                      </a:pPr>
                      <a:r>
                        <a:t>Consumer Loan Issue</a:t>
                      </a:r>
                    </a:p>
                  </a:txBody>
                  <a:tcPr>
                    <a:solidFill>
                      <a:srgbClr val="002B49"/>
                    </a:solidFill>
                  </a:tcPr>
                </a:tc>
                <a:tc>
                  <a:txBody>
                    <a:bodyPr/>
                    <a:lstStyle/>
                    <a:p>
                      <a:pPr>
                        <a:defRPr sz="800" b="1">
                          <a:solidFill>
                            <a:srgbClr val="FFFFFF"/>
                          </a:solidFill>
                        </a:defRPr>
                      </a:pPr>
                      <a:r>
                        <a:t>TDA Issue</a:t>
                      </a:r>
                    </a:p>
                  </a:txBody>
                  <a:tcPr>
                    <a:solidFill>
                      <a:srgbClr val="002B49"/>
                    </a:solidFill>
                  </a:tcPr>
                </a:tc>
                <a:tc>
                  <a:txBody>
                    <a:bodyPr/>
                    <a:lstStyle/>
                    <a:p>
                      <a:pPr>
                        <a:defRPr sz="800" b="1">
                          <a:solidFill>
                            <a:srgbClr val="FFFFFF"/>
                          </a:solidFill>
                        </a:defRPr>
                      </a:pPr>
                      <a:r>
                        <a:t>POS Issue</a:t>
                      </a:r>
                    </a:p>
                  </a:txBody>
                  <a:tcPr>
                    <a:solidFill>
                      <a:srgbClr val="002B49"/>
                    </a:solidFill>
                  </a:tcPr>
                </a:tc>
                <a:tc>
                  <a:txBody>
                    <a:bodyPr/>
                    <a:lstStyle/>
                    <a:p>
                      <a:pPr>
                        <a:defRPr sz="800" b="1">
                          <a:solidFill>
                            <a:srgbClr val="FFFFFF"/>
                          </a:solidFill>
                        </a:defRPr>
                      </a:pPr>
                      <a:r>
                        <a:t>Management Action</a:t>
                      </a:r>
                    </a:p>
                  </a:txBody>
                  <a:tcPr>
                    <a:solidFill>
                      <a:srgbClr val="002B49"/>
                    </a:solidFill>
                  </a:tcPr>
                </a:tc>
              </a:tr>
              <a:tr h="386080">
                <a:tc>
                  <a:txBody>
                    <a:bodyPr/>
                    <a:lstStyle/>
                    <a:p>
                      <a:pPr>
                        <a:defRPr sz="700">
                          <a:solidFill>
                            <a:srgbClr val="1A1A2E"/>
                          </a:solidFill>
                        </a:defRPr>
                      </a:pPr>
                      <a:r>
                        <a:t>Filiali Prizren (1005)</a:t>
                      </a:r>
                    </a:p>
                  </a:txBody>
                  <a:tcPr/>
                </a:tc>
                <a:tc>
                  <a:txBody>
                    <a:bodyPr/>
                    <a:lstStyle/>
                    <a:p>
                      <a:pPr>
                        <a:defRPr sz="700">
                          <a:solidFill>
                            <a:srgbClr val="1A1A2E"/>
                          </a:solidFill>
                        </a:defRPr>
                      </a:pPr>
                      <a:r>
                        <a:t>Consumer 3.2% (worst main Filiali)</a:t>
                      </a:r>
                    </a:p>
                  </a:txBody>
                  <a:tcPr/>
                </a:tc>
                <a:tc>
                  <a:txBody>
                    <a:bodyPr/>
                    <a:lstStyle/>
                    <a:p>
                      <a:pPr>
                        <a:defRPr sz="700">
                          <a:solidFill>
                            <a:srgbClr val="1A1A2E"/>
                          </a:solidFill>
                        </a:defRPr>
                      </a:pPr>
                      <a:r>
                        <a:t>TDA 35.8% (balanced)</a:t>
                      </a:r>
                    </a:p>
                  </a:txBody>
                  <a:tcPr/>
                </a:tc>
                <a:tc>
                  <a:txBody>
                    <a:bodyPr/>
                    <a:lstStyle/>
                    <a:p>
                      <a:pPr>
                        <a:defRPr sz="700">
                          <a:solidFill>
                            <a:srgbClr val="1A1A2E"/>
                          </a:solidFill>
                        </a:defRPr>
                      </a:pPr>
                      <a:r>
                        <a:t>POS 2.2% density</a:t>
                      </a:r>
                    </a:p>
                  </a:txBody>
                  <a:tcPr/>
                </a:tc>
                <a:tc>
                  <a:txBody>
                    <a:bodyPr/>
                    <a:lstStyle/>
                    <a:p>
                      <a:pPr>
                        <a:defRPr sz="700">
                          <a:solidFill>
                            <a:srgbClr val="1A1A2E"/>
                          </a:solidFill>
                        </a:defRPr>
                      </a:pPr>
                      <a:r>
                        <a:t>Push consumer hard; POS growth in 7,119-biz market</a:t>
                      </a:r>
                    </a:p>
                  </a:txBody>
                  <a:tcPr/>
                </a:tc>
              </a:tr>
              <a:tr h="386080">
                <a:tc>
                  <a:txBody>
                    <a:bodyPr/>
                    <a:lstStyle/>
                    <a:p>
                      <a:pPr>
                        <a:defRPr sz="700">
                          <a:solidFill>
                            <a:srgbClr val="1A1A2E"/>
                          </a:solidFill>
                        </a:defRPr>
                      </a:pPr>
                      <a:r>
                        <a:t>Filiali Besiane (1009)</a:t>
                      </a:r>
                    </a:p>
                  </a:txBody>
                  <a:tcPr/>
                </a:tc>
                <a:tc>
                  <a:txBody>
                    <a:bodyPr/>
                    <a:lstStyle/>
                    <a:p>
                      <a:pPr>
                        <a:defRPr sz="700">
                          <a:solidFill>
                            <a:srgbClr val="1A1A2E"/>
                          </a:solidFill>
                        </a:defRPr>
                      </a:pPr>
                      <a:r>
                        <a:t>Consumer 3.6% (bottom 5)</a:t>
                      </a:r>
                    </a:p>
                  </a:txBody>
                  <a:tcPr/>
                </a:tc>
                <a:tc>
                  <a:txBody>
                    <a:bodyPr/>
                    <a:lstStyle/>
                    <a:p>
                      <a:pPr>
                        <a:defRPr sz="700">
                          <a:solidFill>
                            <a:srgbClr val="1A1A2E"/>
                          </a:solidFill>
                        </a:defRPr>
                      </a:pPr>
                      <a:r>
                        <a:t>TDA 32.9% (good)</a:t>
                      </a:r>
                    </a:p>
                  </a:txBody>
                  <a:tcPr/>
                </a:tc>
                <a:tc>
                  <a:txBody>
                    <a:bodyPr/>
                    <a:lstStyle/>
                    <a:p>
                      <a:pPr>
                        <a:defRPr sz="700">
                          <a:solidFill>
                            <a:srgbClr val="1A1A2E"/>
                          </a:solidFill>
                        </a:defRPr>
                      </a:pPr>
                      <a:r>
                        <a:t>POS 1.9% density</a:t>
                      </a:r>
                    </a:p>
                  </a:txBody>
                  <a:tcPr/>
                </a:tc>
                <a:tc>
                  <a:txBody>
                    <a:bodyPr/>
                    <a:lstStyle/>
                    <a:p>
                      <a:pPr>
                        <a:defRPr sz="700">
                          <a:solidFill>
                            <a:srgbClr val="1A1A2E"/>
                          </a:solidFill>
                        </a:defRPr>
                      </a:pPr>
                      <a:r>
                        <a:t>Push consumer + POS; strong CA base (63.6%)</a:t>
                      </a:r>
                    </a:p>
                  </a:txBody>
                  <a:tcPr/>
                </a:tc>
              </a:tr>
              <a:tr h="386080">
                <a:tc>
                  <a:txBody>
                    <a:bodyPr/>
                    <a:lstStyle/>
                    <a:p>
                      <a:pPr>
                        <a:defRPr sz="700">
                          <a:solidFill>
                            <a:srgbClr val="1A1A2E"/>
                          </a:solidFill>
                        </a:defRPr>
                      </a:pPr>
                      <a:r>
                        <a:t>Filiali Gjakove (1004)</a:t>
                      </a:r>
                    </a:p>
                  </a:txBody>
                  <a:tcPr/>
                </a:tc>
                <a:tc>
                  <a:txBody>
                    <a:bodyPr/>
                    <a:lstStyle/>
                    <a:p>
                      <a:pPr>
                        <a:defRPr sz="700">
                          <a:solidFill>
                            <a:srgbClr val="1A1A2E"/>
                          </a:solidFill>
                        </a:defRPr>
                      </a:pPr>
                      <a:r>
                        <a:t>Consumer 5.3% (below median)</a:t>
                      </a:r>
                    </a:p>
                  </a:txBody>
                  <a:tcPr/>
                </a:tc>
                <a:tc>
                  <a:txBody>
                    <a:bodyPr/>
                    <a:lstStyle/>
                    <a:p>
                      <a:pPr>
                        <a:defRPr sz="700" b="1">
                          <a:solidFill>
                            <a:srgbClr val="DC2626"/>
                          </a:solidFill>
                        </a:defRPr>
                      </a:pPr>
                      <a:r>
                        <a:t>TDA 54.4% (CRITICAL)</a:t>
                      </a:r>
                    </a:p>
                  </a:txBody>
                  <a:tcPr/>
                </a:tc>
                <a:tc>
                  <a:txBody>
                    <a:bodyPr/>
                    <a:lstStyle/>
                    <a:p>
                      <a:pPr>
                        <a:defRPr sz="700">
                          <a:solidFill>
                            <a:srgbClr val="1A1A2E"/>
                          </a:solidFill>
                        </a:defRPr>
                      </a:pPr>
                      <a:r>
                        <a:t>POS 1.5% density</a:t>
                      </a:r>
                    </a:p>
                  </a:txBody>
                  <a:tcPr/>
                </a:tc>
                <a:tc>
                  <a:txBody>
                    <a:bodyPr/>
                    <a:lstStyle/>
                    <a:p>
                      <a:pPr>
                        <a:defRPr sz="700">
                          <a:solidFill>
                            <a:srgbClr val="1A1A2E"/>
                          </a:solidFill>
                        </a:defRPr>
                      </a:pPr>
                      <a:r>
                        <a:t>Moderate TDA; shift to CA/salary; push POS in 4,005-biz market</a:t>
                      </a:r>
                    </a:p>
                  </a:txBody>
                  <a:tcPr/>
                </a:tc>
              </a:tr>
              <a:tr h="386080">
                <a:tc>
                  <a:txBody>
                    <a:bodyPr/>
                    <a:lstStyle/>
                    <a:p>
                      <a:pPr>
                        <a:defRPr sz="700">
                          <a:solidFill>
                            <a:srgbClr val="1A1A2E"/>
                          </a:solidFill>
                        </a:defRPr>
                      </a:pPr>
                      <a:r>
                        <a:t>Eksp. Prizren 2 (100504)</a:t>
                      </a:r>
                    </a:p>
                  </a:txBody>
                  <a:tcPr/>
                </a:tc>
                <a:tc>
                  <a:txBody>
                    <a:bodyPr/>
                    <a:lstStyle/>
                    <a:p>
                      <a:pPr>
                        <a:defRPr sz="700">
                          <a:solidFill>
                            <a:srgbClr val="1A1A2E"/>
                          </a:solidFill>
                        </a:defRPr>
                      </a:pPr>
                      <a:r>
                        <a:t>Consumer 6.4% (above median)</a:t>
                      </a:r>
                    </a:p>
                  </a:txBody>
                  <a:tcPr/>
                </a:tc>
                <a:tc>
                  <a:txBody>
                    <a:bodyPr/>
                    <a:lstStyle/>
                    <a:p>
                      <a:pPr>
                        <a:defRPr sz="700" b="1">
                          <a:solidFill>
                            <a:srgbClr val="DC2626"/>
                          </a:solidFill>
                        </a:defRPr>
                      </a:pPr>
                      <a:r>
                        <a:t>TDA 56.8% (CRITICAL)</a:t>
                      </a:r>
                    </a:p>
                  </a:txBody>
                  <a:tcPr/>
                </a:tc>
                <a:tc>
                  <a:txBody>
                    <a:bodyPr/>
                    <a:lstStyle/>
                    <a:p>
                      <a:pPr>
                        <a:defRPr sz="700">
                          <a:solidFill>
                            <a:srgbClr val="DC2626"/>
                          </a:solidFill>
                        </a:defRPr>
                      </a:pPr>
                      <a:r>
                        <a:t>POS 0.0% (zero)</a:t>
                      </a:r>
                    </a:p>
                  </a:txBody>
                  <a:tcPr/>
                </a:tc>
                <a:tc>
                  <a:txBody>
                    <a:bodyPr/>
                    <a:lstStyle/>
                    <a:p>
                      <a:pPr>
                        <a:defRPr sz="700">
                          <a:solidFill>
                            <a:srgbClr val="1A1A2E"/>
                          </a:solidFill>
                        </a:defRPr>
                      </a:pPr>
                      <a:r>
                        <a:t>Deploy POS immediately; moderate TDA growth</a:t>
                      </a:r>
                    </a:p>
                  </a:txBody>
                  <a:tcPr/>
                </a:tc>
              </a:tr>
              <a:tr h="386080">
                <a:tc>
                  <a:txBody>
                    <a:bodyPr/>
                    <a:lstStyle/>
                    <a:p>
                      <a:pPr>
                        <a:defRPr sz="700">
                          <a:solidFill>
                            <a:srgbClr val="1A1A2E"/>
                          </a:solidFill>
                        </a:defRPr>
                      </a:pPr>
                      <a:r>
                        <a:t>Eksp. Fushe Kosove (100104)</a:t>
                      </a:r>
                    </a:p>
                  </a:txBody>
                  <a:tcPr/>
                </a:tc>
                <a:tc>
                  <a:txBody>
                    <a:bodyPr/>
                    <a:lstStyle/>
                    <a:p>
                      <a:pPr>
                        <a:defRPr sz="700">
                          <a:solidFill>
                            <a:srgbClr val="1A1A2E"/>
                          </a:solidFill>
                        </a:defRPr>
                      </a:pPr>
                      <a:r>
                        <a:t>Consumer 9.8% (strong)</a:t>
                      </a:r>
                    </a:p>
                  </a:txBody>
                  <a:tcPr/>
                </a:tc>
                <a:tc>
                  <a:txBody>
                    <a:bodyPr/>
                    <a:lstStyle/>
                    <a:p>
                      <a:pPr>
                        <a:defRPr sz="700">
                          <a:solidFill>
                            <a:srgbClr val="1A1A2E"/>
                          </a:solidFill>
                        </a:defRPr>
                      </a:pPr>
                      <a:r>
                        <a:t>TDA 50.0% (HIGH)</a:t>
                      </a:r>
                    </a:p>
                  </a:txBody>
                  <a:tcPr/>
                </a:tc>
                <a:tc>
                  <a:txBody>
                    <a:bodyPr/>
                    <a:lstStyle/>
                    <a:p>
                      <a:pPr>
                        <a:defRPr sz="700">
                          <a:solidFill>
                            <a:srgbClr val="1A1A2E"/>
                          </a:solidFill>
                        </a:defRPr>
                      </a:pPr>
                      <a:r>
                        <a:t>POS 7.4% density</a:t>
                      </a:r>
                    </a:p>
                  </a:txBody>
                  <a:tcPr/>
                </a:tc>
                <a:tc>
                  <a:txBody>
                    <a:bodyPr/>
                    <a:lstStyle/>
                    <a:p>
                      <a:pPr>
                        <a:defRPr sz="700">
                          <a:solidFill>
                            <a:srgbClr val="1A1A2E"/>
                          </a:solidFill>
                        </a:defRPr>
                      </a:pPr>
                      <a:r>
                        <a:t>Funding mix correction needed; consumer already strong</a:t>
                      </a:r>
                    </a:p>
                  </a:txBody>
                  <a:tcPr/>
                </a:tc>
              </a:tr>
              <a:tr h="386080">
                <a:tc>
                  <a:txBody>
                    <a:bodyPr/>
                    <a:lstStyle/>
                    <a:p>
                      <a:pPr>
                        <a:defRPr sz="700">
                          <a:solidFill>
                            <a:srgbClr val="1A1A2E"/>
                          </a:solidFill>
                        </a:defRPr>
                      </a:pPr>
                      <a:r>
                        <a:t>1001 Prishtine (1001)</a:t>
                      </a:r>
                    </a:p>
                  </a:txBody>
                  <a:tcPr/>
                </a:tc>
                <a:tc>
                  <a:txBody>
                    <a:bodyPr/>
                    <a:lstStyle/>
                    <a:p>
                      <a:pPr>
                        <a:defRPr sz="700">
                          <a:solidFill>
                            <a:srgbClr val="1A1A2E"/>
                          </a:solidFill>
                        </a:defRPr>
                      </a:pPr>
                      <a:r>
                        <a:t>Consumer 6.6% (near median)</a:t>
                      </a:r>
                    </a:p>
                  </a:txBody>
                  <a:tcPr/>
                </a:tc>
                <a:tc>
                  <a:txBody>
                    <a:bodyPr/>
                    <a:lstStyle/>
                    <a:p>
                      <a:pPr>
                        <a:defRPr sz="700">
                          <a:solidFill>
                            <a:srgbClr val="1A1A2E"/>
                          </a:solidFill>
                        </a:defRPr>
                      </a:pPr>
                      <a:r>
                        <a:t>TDA 41.7% (elevated)</a:t>
                      </a:r>
                    </a:p>
                  </a:txBody>
                  <a:tcPr/>
                </a:tc>
                <a:tc>
                  <a:txBody>
                    <a:bodyPr/>
                    <a:lstStyle/>
                    <a:p>
                      <a:pPr>
                        <a:defRPr sz="700">
                          <a:solidFill>
                            <a:srgbClr val="DC2626"/>
                          </a:solidFill>
                        </a:defRPr>
                      </a:pPr>
                      <a:r>
                        <a:t>POS 0.0% (zero)</a:t>
                      </a:r>
                    </a:p>
                  </a:txBody>
                  <a:tcPr/>
                </a:tc>
                <a:tc>
                  <a:txBody>
                    <a:bodyPr/>
                    <a:lstStyle/>
                    <a:p>
                      <a:pPr>
                        <a:defRPr sz="700">
                          <a:solidFill>
                            <a:srgbClr val="1A1A2E"/>
                          </a:solidFill>
                        </a:defRPr>
                      </a:pPr>
                      <a:r>
                        <a:t>Deploy POS in 21,396-biz market; monitor TDA</a:t>
                      </a:r>
                    </a:p>
                  </a:txBody>
                  <a:tcPr/>
                </a:tc>
              </a:tr>
              <a:tr h="386080">
                <a:tc>
                  <a:txBody>
                    <a:bodyPr/>
                    <a:lstStyle/>
                    <a:p>
                      <a:pPr>
                        <a:defRPr sz="700">
                          <a:solidFill>
                            <a:srgbClr val="1A1A2E"/>
                          </a:solidFill>
                        </a:defRPr>
                      </a:pPr>
                      <a:r>
                        <a:t>Filiali Mitrovice (1007)</a:t>
                      </a:r>
                    </a:p>
                  </a:txBody>
                  <a:tcPr/>
                </a:tc>
                <a:tc>
                  <a:txBody>
                    <a:bodyPr/>
                    <a:lstStyle/>
                    <a:p>
                      <a:pPr>
                        <a:defRPr sz="700">
                          <a:solidFill>
                            <a:srgbClr val="1A1A2E"/>
                          </a:solidFill>
                        </a:defRPr>
                      </a:pPr>
                      <a:r>
                        <a:t>Consumer 3.9% (bottom 6)</a:t>
                      </a:r>
                    </a:p>
                  </a:txBody>
                  <a:tcPr/>
                </a:tc>
                <a:tc>
                  <a:txBody>
                    <a:bodyPr/>
                    <a:lstStyle/>
                    <a:p>
                      <a:pPr>
                        <a:defRPr sz="700">
                          <a:solidFill>
                            <a:srgbClr val="1A1A2E"/>
                          </a:solidFill>
                        </a:defRPr>
                      </a:pPr>
                      <a:r>
                        <a:t>TDA 36.5% (balanced)</a:t>
                      </a:r>
                    </a:p>
                  </a:txBody>
                  <a:tcPr/>
                </a:tc>
                <a:tc>
                  <a:txBody>
                    <a:bodyPr/>
                    <a:lstStyle/>
                    <a:p>
                      <a:pPr>
                        <a:defRPr sz="700">
                          <a:solidFill>
                            <a:srgbClr val="1A1A2E"/>
                          </a:solidFill>
                        </a:defRPr>
                      </a:pPr>
                      <a:r>
                        <a:t>POS 4.2% density</a:t>
                      </a:r>
                    </a:p>
                  </a:txBody>
                  <a:tcPr/>
                </a:tc>
                <a:tc>
                  <a:txBody>
                    <a:bodyPr/>
                    <a:lstStyle/>
                    <a:p>
                      <a:pPr>
                        <a:defRPr sz="700">
                          <a:solidFill>
                            <a:srgbClr val="1A1A2E"/>
                          </a:solidFill>
                        </a:defRPr>
                      </a:pPr>
                      <a:r>
                        <a:t>Consumer loan campaign priority; product mix too shallow</a:t>
                      </a:r>
                    </a:p>
                  </a:txBody>
                  <a:tcPr/>
                </a:tc>
              </a:tr>
              <a:tr h="386080">
                <a:tc>
                  <a:txBody>
                    <a:bodyPr/>
                    <a:lstStyle/>
                    <a:p>
                      <a:pPr>
                        <a:defRPr sz="700">
                          <a:solidFill>
                            <a:srgbClr val="1A1A2E"/>
                          </a:solidFill>
                        </a:defRPr>
                      </a:pPr>
                      <a:r>
                        <a:t>Eksp. Decan (100604)</a:t>
                      </a:r>
                    </a:p>
                  </a:txBody>
                  <a:tcPr/>
                </a:tc>
                <a:tc>
                  <a:txBody>
                    <a:bodyPr/>
                    <a:lstStyle/>
                    <a:p>
                      <a:pPr>
                        <a:defRPr sz="700">
                          <a:solidFill>
                            <a:srgbClr val="1A1A2E"/>
                          </a:solidFill>
                        </a:defRPr>
                      </a:pPr>
                      <a:r>
                        <a:t>Consumer 3.5% (bottom 5)</a:t>
                      </a:r>
                    </a:p>
                  </a:txBody>
                  <a:tcPr/>
                </a:tc>
                <a:tc>
                  <a:txBody>
                    <a:bodyPr/>
                    <a:lstStyle/>
                    <a:p>
                      <a:pPr>
                        <a:defRPr sz="700">
                          <a:solidFill>
                            <a:srgbClr val="1A1A2E"/>
                          </a:solidFill>
                        </a:defRPr>
                      </a:pPr>
                      <a:r>
                        <a:t>TDA 45.1% (elevated)</a:t>
                      </a:r>
                    </a:p>
                  </a:txBody>
                  <a:tcPr/>
                </a:tc>
                <a:tc>
                  <a:txBody>
                    <a:bodyPr/>
                    <a:lstStyle/>
                    <a:p>
                      <a:pPr>
                        <a:defRPr sz="700">
                          <a:solidFill>
                            <a:srgbClr val="1A1A2E"/>
                          </a:solidFill>
                        </a:defRPr>
                      </a:pPr>
                      <a:r>
                        <a:t>POS 6.8% density</a:t>
                      </a:r>
                    </a:p>
                  </a:txBody>
                  <a:tcPr/>
                </a:tc>
                <a:tc>
                  <a:txBody>
                    <a:bodyPr/>
                    <a:lstStyle/>
                    <a:p>
                      <a:pPr>
                        <a:defRPr sz="700">
                          <a:solidFill>
                            <a:srgbClr val="1A1A2E"/>
                          </a:solidFill>
                        </a:defRPr>
                      </a:pPr>
                      <a:r>
                        <a:t>Push consumer aggressively; 7,528 active clients under-served</a:t>
                      </a:r>
                    </a:p>
                  </a:txBody>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144000" cy="365760"/>
          </a:xfrm>
          <a:prstGeom prst="rect">
            <a:avLst/>
          </a:prstGeom>
          <a:noFill/>
        </p:spPr>
        <p:txBody>
          <a:bodyPr wrap="square">
            <a:spAutoFit/>
          </a:bodyPr>
          <a:lstStyle/>
          <a:p>
            <a:pPr algn="l">
              <a:defRPr sz="2000" b="1">
                <a:solidFill>
                  <a:srgbClr val="FFFFFF"/>
                </a:solidFill>
              </a:defRPr>
            </a:pPr>
            <a:r>
              <a:t>CONSUMER LOAN GROWTH — BRANCH PRIORITIES</a:t>
            </a:r>
          </a:p>
        </p:txBody>
      </p:sp>
      <p:sp>
        <p:nvSpPr>
          <p:cNvPr id="4" name="TextBox 3"/>
          <p:cNvSpPr txBox="1"/>
          <p:nvPr/>
        </p:nvSpPr>
        <p:spPr>
          <a:xfrm>
            <a:off x="457200" y="475488"/>
            <a:ext cx="9144000" cy="274320"/>
          </a:xfrm>
          <a:prstGeom prst="rect">
            <a:avLst/>
          </a:prstGeom>
          <a:noFill/>
        </p:spPr>
        <p:txBody>
          <a:bodyPr wrap="square">
            <a:spAutoFit/>
          </a:bodyPr>
          <a:lstStyle/>
          <a:p>
            <a:pPr algn="l">
              <a:defRPr sz="1000" b="0">
                <a:solidFill>
                  <a:srgbClr val="A0BCD8"/>
                </a:solidFill>
              </a:defRPr>
            </a:pPr>
            <a:r>
              <a:t>Where to push, where to defend, where capacity exists</a:t>
            </a:r>
          </a:p>
        </p:txBody>
      </p:sp>
      <p:sp>
        <p:nvSpPr>
          <p:cNvPr id="5" name="Rectangle 4"/>
          <p:cNvSpPr/>
          <p:nvPr/>
        </p:nvSpPr>
        <p:spPr>
          <a:xfrm>
            <a:off x="365760" y="1005840"/>
            <a:ext cx="11430000" cy="594360"/>
          </a:xfrm>
          <a:prstGeom prst="rect">
            <a:avLst/>
          </a:prstGeom>
          <a:solidFill>
            <a:srgbClr val="F0F4F8"/>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000" b="1">
                <a:solidFill>
                  <a:srgbClr val="002B49"/>
                </a:solidFill>
              </a:rPr>
              <a:t>SO WHAT:  </a:t>
            </a:r>
            <a:r>
              <a:rPr sz="900">
                <a:solidFill>
                  <a:srgbClr val="1A1A2E"/>
                </a:solidFill>
              </a:rPr>
              <a:t>Consumer lending is the highest-margin PI product and the primary commercial lever. 15 branches are below the 5.7% median. The 5 worst-performing branches (Prizren 3.2%, Decan 3.5%, Viti 3.5%, Besiane 3.6%, Mitrovice 3.9%) together serve 53,000+ active clients — a massive addressable pool for consumer loan campaigns.</a:t>
            </a:r>
          </a:p>
        </p:txBody>
      </p:sp>
      <p:sp>
        <p:nvSpPr>
          <p:cNvPr id="6" name="TextBox 5"/>
          <p:cNvSpPr txBox="1"/>
          <p:nvPr/>
        </p:nvSpPr>
        <p:spPr>
          <a:xfrm>
            <a:off x="365760" y="1783080"/>
            <a:ext cx="5486400" cy="228600"/>
          </a:xfrm>
          <a:prstGeom prst="rect">
            <a:avLst/>
          </a:prstGeom>
          <a:noFill/>
        </p:spPr>
        <p:txBody>
          <a:bodyPr wrap="square">
            <a:spAutoFit/>
          </a:bodyPr>
          <a:lstStyle/>
          <a:p>
            <a:pPr algn="l">
              <a:defRPr sz="1000" b="1">
                <a:solidFill>
                  <a:srgbClr val="DC2626"/>
                </a:solidFill>
              </a:defRPr>
            </a:pPr>
            <a:r>
              <a:t>PUSH CONSUMER GROWTH (16 branches below 5.7% median)</a:t>
            </a:r>
          </a:p>
        </p:txBody>
      </p:sp>
      <p:graphicFrame>
        <p:nvGraphicFramePr>
          <p:cNvPr id="7" name="Table 6"/>
          <p:cNvGraphicFramePr>
            <a:graphicFrameLocks noGrp="1"/>
          </p:cNvGraphicFramePr>
          <p:nvPr/>
        </p:nvGraphicFramePr>
        <p:xfrm>
          <a:off x="365760" y="2057400"/>
          <a:ext cx="5669280" cy="4114800"/>
        </p:xfrm>
        <a:graphic>
          <a:graphicData uri="http://schemas.openxmlformats.org/drawingml/2006/table">
            <a:tbl>
              <a:tblPr firstRow="1" bandRow="1">
                <a:tableStyleId>{5C22544A-7EE6-4342-B048-85BDC9FD1C3A}</a:tableStyleId>
              </a:tblPr>
              <a:tblGrid>
                <a:gridCol w="2103120"/>
                <a:gridCol w="914400"/>
                <a:gridCol w="731520"/>
                <a:gridCol w="914400"/>
                <a:gridCol w="1005840"/>
              </a:tblGrid>
              <a:tr h="242047">
                <a:tc>
                  <a:txBody>
                    <a:bodyPr/>
                    <a:lstStyle/>
                    <a:p>
                      <a:pPr>
                        <a:defRPr sz="700" b="1">
                          <a:solidFill>
                            <a:srgbClr val="FFFFFF"/>
                          </a:solidFill>
                        </a:defRPr>
                      </a:pPr>
                      <a:r>
                        <a:t>Branch</a:t>
                      </a:r>
                    </a:p>
                  </a:txBody>
                  <a:tcPr>
                    <a:solidFill>
                      <a:srgbClr val="DC2626"/>
                    </a:solidFill>
                  </a:tcPr>
                </a:tc>
                <a:tc>
                  <a:txBody>
                    <a:bodyPr/>
                    <a:lstStyle/>
                    <a:p>
                      <a:pPr>
                        <a:defRPr sz="700" b="1">
                          <a:solidFill>
                            <a:srgbClr val="FFFFFF"/>
                          </a:solidFill>
                        </a:defRPr>
                      </a:pPr>
                      <a:r>
                        <a:t>City</a:t>
                      </a:r>
                    </a:p>
                  </a:txBody>
                  <a:tcPr>
                    <a:solidFill>
                      <a:srgbClr val="DC2626"/>
                    </a:solidFill>
                  </a:tcPr>
                </a:tc>
                <a:tc>
                  <a:txBody>
                    <a:bodyPr/>
                    <a:lstStyle/>
                    <a:p>
                      <a:pPr>
                        <a:defRPr sz="700" b="1">
                          <a:solidFill>
                            <a:srgbClr val="FFFFFF"/>
                          </a:solidFill>
                        </a:defRPr>
                      </a:pPr>
                      <a:r>
                        <a:t>CL Pen%</a:t>
                      </a:r>
                    </a:p>
                  </a:txBody>
                  <a:tcPr>
                    <a:solidFill>
                      <a:srgbClr val="DC2626"/>
                    </a:solidFill>
                  </a:tcPr>
                </a:tc>
                <a:tc>
                  <a:txBody>
                    <a:bodyPr/>
                    <a:lstStyle/>
                    <a:p>
                      <a:pPr>
                        <a:defRPr sz="700" b="1">
                          <a:solidFill>
                            <a:srgbClr val="FFFFFF"/>
                          </a:solidFill>
                        </a:defRPr>
                      </a:pPr>
                      <a:r>
                        <a:t>Active PI</a:t>
                      </a:r>
                    </a:p>
                  </a:txBody>
                  <a:tcPr>
                    <a:solidFill>
                      <a:srgbClr val="DC2626"/>
                    </a:solidFill>
                  </a:tcPr>
                </a:tc>
                <a:tc>
                  <a:txBody>
                    <a:bodyPr/>
                    <a:lstStyle/>
                    <a:p>
                      <a:pPr>
                        <a:defRPr sz="700" b="1">
                          <a:solidFill>
                            <a:srgbClr val="FFFFFF"/>
                          </a:solidFill>
                        </a:defRPr>
                      </a:pPr>
                      <a:r>
                        <a:t>CL Count</a:t>
                      </a:r>
                    </a:p>
                  </a:txBody>
                  <a:tcPr>
                    <a:solidFill>
                      <a:srgbClr val="DC2626"/>
                    </a:solidFill>
                  </a:tcPr>
                </a:tc>
              </a:tr>
              <a:tr h="242047">
                <a:tc>
                  <a:txBody>
                    <a:bodyPr/>
                    <a:lstStyle/>
                    <a:p>
                      <a:pPr>
                        <a:defRPr sz="700">
                          <a:solidFill>
                            <a:srgbClr val="1A1A2E"/>
                          </a:solidFill>
                        </a:defRPr>
                      </a:pPr>
                      <a:r>
                        <a:t>Filiali Prizren</a:t>
                      </a:r>
                    </a:p>
                  </a:txBody>
                  <a:tcPr/>
                </a:tc>
                <a:tc>
                  <a:txBody>
                    <a:bodyPr/>
                    <a:lstStyle/>
                    <a:p>
                      <a:pPr>
                        <a:defRPr sz="700">
                          <a:solidFill>
                            <a:srgbClr val="1A1A2E"/>
                          </a:solidFill>
                        </a:defRPr>
                      </a:pPr>
                      <a:r>
                        <a:t>Prizren</a:t>
                      </a:r>
                    </a:p>
                  </a:txBody>
                  <a:tcPr/>
                </a:tc>
                <a:tc>
                  <a:txBody>
                    <a:bodyPr/>
                    <a:lstStyle/>
                    <a:p>
                      <a:pPr>
                        <a:defRPr sz="700">
                          <a:solidFill>
                            <a:srgbClr val="1A1A2E"/>
                          </a:solidFill>
                        </a:defRPr>
                      </a:pPr>
                      <a:r>
                        <a:t>3.2%</a:t>
                      </a:r>
                    </a:p>
                  </a:txBody>
                  <a:tcPr/>
                </a:tc>
                <a:tc>
                  <a:txBody>
                    <a:bodyPr/>
                    <a:lstStyle/>
                    <a:p>
                      <a:pPr>
                        <a:defRPr sz="700">
                          <a:solidFill>
                            <a:srgbClr val="1A1A2E"/>
                          </a:solidFill>
                        </a:defRPr>
                      </a:pPr>
                      <a:r>
                        <a:t>11,562</a:t>
                      </a:r>
                    </a:p>
                  </a:txBody>
                  <a:tcPr/>
                </a:tc>
                <a:tc>
                  <a:txBody>
                    <a:bodyPr/>
                    <a:lstStyle/>
                    <a:p>
                      <a:pPr>
                        <a:defRPr sz="700">
                          <a:solidFill>
                            <a:srgbClr val="1A1A2E"/>
                          </a:solidFill>
                        </a:defRPr>
                      </a:pPr>
                      <a:r>
                        <a:t>368</a:t>
                      </a:r>
                    </a:p>
                  </a:txBody>
                  <a:tcPr/>
                </a:tc>
              </a:tr>
              <a:tr h="242047">
                <a:tc>
                  <a:txBody>
                    <a:bodyPr/>
                    <a:lstStyle/>
                    <a:p>
                      <a:pPr>
                        <a:defRPr sz="700">
                          <a:solidFill>
                            <a:srgbClr val="1A1A2E"/>
                          </a:solidFill>
                        </a:defRPr>
                      </a:pPr>
                      <a:r>
                        <a:t>Ekspozitura Decan</a:t>
                      </a:r>
                    </a:p>
                  </a:txBody>
                  <a:tcPr/>
                </a:tc>
                <a:tc>
                  <a:txBody>
                    <a:bodyPr/>
                    <a:lstStyle/>
                    <a:p>
                      <a:pPr>
                        <a:defRPr sz="700">
                          <a:solidFill>
                            <a:srgbClr val="1A1A2E"/>
                          </a:solidFill>
                        </a:defRPr>
                      </a:pPr>
                      <a:r>
                        <a:t>Decan</a:t>
                      </a:r>
                    </a:p>
                  </a:txBody>
                  <a:tcPr/>
                </a:tc>
                <a:tc>
                  <a:txBody>
                    <a:bodyPr/>
                    <a:lstStyle/>
                    <a:p>
                      <a:pPr>
                        <a:defRPr sz="700">
                          <a:solidFill>
                            <a:srgbClr val="1A1A2E"/>
                          </a:solidFill>
                        </a:defRPr>
                      </a:pPr>
                      <a:r>
                        <a:t>3.5%</a:t>
                      </a:r>
                    </a:p>
                  </a:txBody>
                  <a:tcPr/>
                </a:tc>
                <a:tc>
                  <a:txBody>
                    <a:bodyPr/>
                    <a:lstStyle/>
                    <a:p>
                      <a:pPr>
                        <a:defRPr sz="700">
                          <a:solidFill>
                            <a:srgbClr val="1A1A2E"/>
                          </a:solidFill>
                        </a:defRPr>
                      </a:pPr>
                      <a:r>
                        <a:t>7,528</a:t>
                      </a:r>
                    </a:p>
                  </a:txBody>
                  <a:tcPr/>
                </a:tc>
                <a:tc>
                  <a:txBody>
                    <a:bodyPr/>
                    <a:lstStyle/>
                    <a:p>
                      <a:pPr>
                        <a:defRPr sz="700">
                          <a:solidFill>
                            <a:srgbClr val="1A1A2E"/>
                          </a:solidFill>
                        </a:defRPr>
                      </a:pPr>
                      <a:r>
                        <a:t>265</a:t>
                      </a:r>
                    </a:p>
                  </a:txBody>
                  <a:tcPr/>
                </a:tc>
              </a:tr>
              <a:tr h="242047">
                <a:tc>
                  <a:txBody>
                    <a:bodyPr/>
                    <a:lstStyle/>
                    <a:p>
                      <a:pPr>
                        <a:defRPr sz="700">
                          <a:solidFill>
                            <a:srgbClr val="1A1A2E"/>
                          </a:solidFill>
                        </a:defRPr>
                      </a:pPr>
                      <a:r>
                        <a:t>Ekspozitura Viti</a:t>
                      </a:r>
                    </a:p>
                  </a:txBody>
                  <a:tcPr/>
                </a:tc>
                <a:tc>
                  <a:txBody>
                    <a:bodyPr/>
                    <a:lstStyle/>
                    <a:p>
                      <a:pPr>
                        <a:defRPr sz="700">
                          <a:solidFill>
                            <a:srgbClr val="1A1A2E"/>
                          </a:solidFill>
                        </a:defRPr>
                      </a:pPr>
                      <a:r>
                        <a:t>Viti</a:t>
                      </a:r>
                    </a:p>
                  </a:txBody>
                  <a:tcPr/>
                </a:tc>
                <a:tc>
                  <a:txBody>
                    <a:bodyPr/>
                    <a:lstStyle/>
                    <a:p>
                      <a:pPr>
                        <a:defRPr sz="700">
                          <a:solidFill>
                            <a:srgbClr val="1A1A2E"/>
                          </a:solidFill>
                        </a:defRPr>
                      </a:pPr>
                      <a:r>
                        <a:t>3.5%</a:t>
                      </a:r>
                    </a:p>
                  </a:txBody>
                  <a:tcPr/>
                </a:tc>
                <a:tc>
                  <a:txBody>
                    <a:bodyPr/>
                    <a:lstStyle/>
                    <a:p>
                      <a:pPr>
                        <a:defRPr sz="700">
                          <a:solidFill>
                            <a:srgbClr val="1A1A2E"/>
                          </a:solidFill>
                        </a:defRPr>
                      </a:pPr>
                      <a:r>
                        <a:t>5,141</a:t>
                      </a:r>
                    </a:p>
                  </a:txBody>
                  <a:tcPr/>
                </a:tc>
                <a:tc>
                  <a:txBody>
                    <a:bodyPr/>
                    <a:lstStyle/>
                    <a:p>
                      <a:pPr>
                        <a:defRPr sz="700">
                          <a:solidFill>
                            <a:srgbClr val="1A1A2E"/>
                          </a:solidFill>
                        </a:defRPr>
                      </a:pPr>
                      <a:r>
                        <a:t>182</a:t>
                      </a:r>
                    </a:p>
                  </a:txBody>
                  <a:tcPr/>
                </a:tc>
              </a:tr>
              <a:tr h="242047">
                <a:tc>
                  <a:txBody>
                    <a:bodyPr/>
                    <a:lstStyle/>
                    <a:p>
                      <a:pPr>
                        <a:defRPr sz="700">
                          <a:solidFill>
                            <a:srgbClr val="1A1A2E"/>
                          </a:solidFill>
                        </a:defRPr>
                      </a:pPr>
                      <a:r>
                        <a:t>Filiali Besiane</a:t>
                      </a:r>
                    </a:p>
                  </a:txBody>
                  <a:tcPr/>
                </a:tc>
                <a:tc>
                  <a:txBody>
                    <a:bodyPr/>
                    <a:lstStyle/>
                    <a:p>
                      <a:pPr>
                        <a:defRPr sz="700">
                          <a:solidFill>
                            <a:srgbClr val="1A1A2E"/>
                          </a:solidFill>
                        </a:defRPr>
                      </a:pPr>
                      <a:r>
                        <a:t>Podujeve</a:t>
                      </a:r>
                    </a:p>
                  </a:txBody>
                  <a:tcPr/>
                </a:tc>
                <a:tc>
                  <a:txBody>
                    <a:bodyPr/>
                    <a:lstStyle/>
                    <a:p>
                      <a:pPr>
                        <a:defRPr sz="700">
                          <a:solidFill>
                            <a:srgbClr val="1A1A2E"/>
                          </a:solidFill>
                        </a:defRPr>
                      </a:pPr>
                      <a:r>
                        <a:t>3.6%</a:t>
                      </a:r>
                    </a:p>
                  </a:txBody>
                  <a:tcPr/>
                </a:tc>
                <a:tc>
                  <a:txBody>
                    <a:bodyPr/>
                    <a:lstStyle/>
                    <a:p>
                      <a:pPr>
                        <a:defRPr sz="700">
                          <a:solidFill>
                            <a:srgbClr val="1A1A2E"/>
                          </a:solidFill>
                        </a:defRPr>
                      </a:pPr>
                      <a:r>
                        <a:t>10,497</a:t>
                      </a:r>
                    </a:p>
                  </a:txBody>
                  <a:tcPr/>
                </a:tc>
                <a:tc>
                  <a:txBody>
                    <a:bodyPr/>
                    <a:lstStyle/>
                    <a:p>
                      <a:pPr>
                        <a:defRPr sz="700">
                          <a:solidFill>
                            <a:srgbClr val="1A1A2E"/>
                          </a:solidFill>
                        </a:defRPr>
                      </a:pPr>
                      <a:r>
                        <a:t>380</a:t>
                      </a:r>
                    </a:p>
                  </a:txBody>
                  <a:tcPr/>
                </a:tc>
              </a:tr>
              <a:tr h="242047">
                <a:tc>
                  <a:txBody>
                    <a:bodyPr/>
                    <a:lstStyle/>
                    <a:p>
                      <a:pPr>
                        <a:defRPr sz="700">
                          <a:solidFill>
                            <a:srgbClr val="1A1A2E"/>
                          </a:solidFill>
                        </a:defRPr>
                      </a:pPr>
                      <a:r>
                        <a:t>Filiali Mitrovice</a:t>
                      </a:r>
                    </a:p>
                  </a:txBody>
                  <a:tcPr/>
                </a:tc>
                <a:tc>
                  <a:txBody>
                    <a:bodyPr/>
                    <a:lstStyle/>
                    <a:p>
                      <a:pPr>
                        <a:defRPr sz="700">
                          <a:solidFill>
                            <a:srgbClr val="1A1A2E"/>
                          </a:solidFill>
                        </a:defRPr>
                      </a:pPr>
                      <a:r>
                        <a:t>Mitrovice</a:t>
                      </a:r>
                    </a:p>
                  </a:txBody>
                  <a:tcPr/>
                </a:tc>
                <a:tc>
                  <a:txBody>
                    <a:bodyPr/>
                    <a:lstStyle/>
                    <a:p>
                      <a:pPr>
                        <a:defRPr sz="700">
                          <a:solidFill>
                            <a:srgbClr val="1A1A2E"/>
                          </a:solidFill>
                        </a:defRPr>
                      </a:pPr>
                      <a:r>
                        <a:t>3.9%</a:t>
                      </a:r>
                    </a:p>
                  </a:txBody>
                  <a:tcPr/>
                </a:tc>
                <a:tc>
                  <a:txBody>
                    <a:bodyPr/>
                    <a:lstStyle/>
                    <a:p>
                      <a:pPr>
                        <a:defRPr sz="700">
                          <a:solidFill>
                            <a:srgbClr val="1A1A2E"/>
                          </a:solidFill>
                        </a:defRPr>
                      </a:pPr>
                      <a:r>
                        <a:t>8,497</a:t>
                      </a:r>
                    </a:p>
                  </a:txBody>
                  <a:tcPr/>
                </a:tc>
                <a:tc>
                  <a:txBody>
                    <a:bodyPr/>
                    <a:lstStyle/>
                    <a:p>
                      <a:pPr>
                        <a:defRPr sz="700">
                          <a:solidFill>
                            <a:srgbClr val="1A1A2E"/>
                          </a:solidFill>
                        </a:defRPr>
                      </a:pPr>
                      <a:r>
                        <a:t>333</a:t>
                      </a:r>
                    </a:p>
                  </a:txBody>
                  <a:tcPr/>
                </a:tc>
              </a:tr>
              <a:tr h="242047">
                <a:tc>
                  <a:txBody>
                    <a:bodyPr/>
                    <a:lstStyle/>
                    <a:p>
                      <a:pPr>
                        <a:defRPr sz="700">
                          <a:solidFill>
                            <a:srgbClr val="1A1A2E"/>
                          </a:solidFill>
                        </a:defRPr>
                      </a:pPr>
                      <a:r>
                        <a:t>Ekspozitura Malisheve</a:t>
                      </a:r>
                    </a:p>
                  </a:txBody>
                  <a:tcPr/>
                </a:tc>
                <a:tc>
                  <a:txBody>
                    <a:bodyPr/>
                    <a:lstStyle/>
                    <a:p>
                      <a:pPr>
                        <a:defRPr sz="700">
                          <a:solidFill>
                            <a:srgbClr val="1A1A2E"/>
                          </a:solidFill>
                        </a:defRPr>
                      </a:pPr>
                      <a:r>
                        <a:t>Malisheve</a:t>
                      </a:r>
                    </a:p>
                  </a:txBody>
                  <a:tcPr/>
                </a:tc>
                <a:tc>
                  <a:txBody>
                    <a:bodyPr/>
                    <a:lstStyle/>
                    <a:p>
                      <a:pPr>
                        <a:defRPr sz="700">
                          <a:solidFill>
                            <a:srgbClr val="1A1A2E"/>
                          </a:solidFill>
                        </a:defRPr>
                      </a:pPr>
                      <a:r>
                        <a:t>4.3%</a:t>
                      </a:r>
                    </a:p>
                  </a:txBody>
                  <a:tcPr/>
                </a:tc>
                <a:tc>
                  <a:txBody>
                    <a:bodyPr/>
                    <a:lstStyle/>
                    <a:p>
                      <a:pPr>
                        <a:defRPr sz="700">
                          <a:solidFill>
                            <a:srgbClr val="1A1A2E"/>
                          </a:solidFill>
                        </a:defRPr>
                      </a:pPr>
                      <a:r>
                        <a:t>4,380</a:t>
                      </a:r>
                    </a:p>
                  </a:txBody>
                  <a:tcPr/>
                </a:tc>
                <a:tc>
                  <a:txBody>
                    <a:bodyPr/>
                    <a:lstStyle/>
                    <a:p>
                      <a:pPr>
                        <a:defRPr sz="700">
                          <a:solidFill>
                            <a:srgbClr val="1A1A2E"/>
                          </a:solidFill>
                        </a:defRPr>
                      </a:pPr>
                      <a:r>
                        <a:t>188</a:t>
                      </a:r>
                    </a:p>
                  </a:txBody>
                  <a:tcPr/>
                </a:tc>
              </a:tr>
              <a:tr h="242047">
                <a:tc>
                  <a:txBody>
                    <a:bodyPr/>
                    <a:lstStyle/>
                    <a:p>
                      <a:pPr>
                        <a:defRPr sz="700">
                          <a:solidFill>
                            <a:srgbClr val="1A1A2E"/>
                          </a:solidFill>
                        </a:defRPr>
                      </a:pPr>
                      <a:r>
                        <a:t>Ekspozitura Gracanice</a:t>
                      </a:r>
                    </a:p>
                  </a:txBody>
                  <a:tcPr/>
                </a:tc>
                <a:tc>
                  <a:txBody>
                    <a:bodyPr/>
                    <a:lstStyle/>
                    <a:p>
                      <a:pPr>
                        <a:defRPr sz="700">
                          <a:solidFill>
                            <a:srgbClr val="1A1A2E"/>
                          </a:solidFill>
                        </a:defRPr>
                      </a:pPr>
                      <a:r>
                        <a:t>Gracanice</a:t>
                      </a:r>
                    </a:p>
                  </a:txBody>
                  <a:tcPr/>
                </a:tc>
                <a:tc>
                  <a:txBody>
                    <a:bodyPr/>
                    <a:lstStyle/>
                    <a:p>
                      <a:pPr>
                        <a:defRPr sz="700">
                          <a:solidFill>
                            <a:srgbClr val="1A1A2E"/>
                          </a:solidFill>
                        </a:defRPr>
                      </a:pPr>
                      <a:r>
                        <a:t>4.4%</a:t>
                      </a:r>
                    </a:p>
                  </a:txBody>
                  <a:tcPr/>
                </a:tc>
                <a:tc>
                  <a:txBody>
                    <a:bodyPr/>
                    <a:lstStyle/>
                    <a:p>
                      <a:pPr>
                        <a:defRPr sz="700">
                          <a:solidFill>
                            <a:srgbClr val="1A1A2E"/>
                          </a:solidFill>
                        </a:defRPr>
                      </a:pPr>
                      <a:r>
                        <a:t>3,695</a:t>
                      </a:r>
                    </a:p>
                  </a:txBody>
                  <a:tcPr/>
                </a:tc>
                <a:tc>
                  <a:txBody>
                    <a:bodyPr/>
                    <a:lstStyle/>
                    <a:p>
                      <a:pPr>
                        <a:defRPr sz="700">
                          <a:solidFill>
                            <a:srgbClr val="1A1A2E"/>
                          </a:solidFill>
                        </a:defRPr>
                      </a:pPr>
                      <a:r>
                        <a:t>164</a:t>
                      </a:r>
                    </a:p>
                  </a:txBody>
                  <a:tcPr/>
                </a:tc>
              </a:tr>
              <a:tr h="242047">
                <a:tc>
                  <a:txBody>
                    <a:bodyPr/>
                    <a:lstStyle/>
                    <a:p>
                      <a:pPr>
                        <a:defRPr sz="700">
                          <a:solidFill>
                            <a:srgbClr val="1A1A2E"/>
                          </a:solidFill>
                        </a:defRPr>
                      </a:pPr>
                      <a:r>
                        <a:t>Ekspozitura Rahovec</a:t>
                      </a:r>
                    </a:p>
                  </a:txBody>
                  <a:tcPr/>
                </a:tc>
                <a:tc>
                  <a:txBody>
                    <a:bodyPr/>
                    <a:lstStyle/>
                    <a:p>
                      <a:pPr>
                        <a:defRPr sz="700">
                          <a:solidFill>
                            <a:srgbClr val="1A1A2E"/>
                          </a:solidFill>
                        </a:defRPr>
                      </a:pPr>
                      <a:r>
                        <a:t>Rahovec</a:t>
                      </a:r>
                    </a:p>
                  </a:txBody>
                  <a:tcPr/>
                </a:tc>
                <a:tc>
                  <a:txBody>
                    <a:bodyPr/>
                    <a:lstStyle/>
                    <a:p>
                      <a:pPr>
                        <a:defRPr sz="700">
                          <a:solidFill>
                            <a:srgbClr val="1A1A2E"/>
                          </a:solidFill>
                        </a:defRPr>
                      </a:pPr>
                      <a:r>
                        <a:t>4.5%</a:t>
                      </a:r>
                    </a:p>
                  </a:txBody>
                  <a:tcPr/>
                </a:tc>
                <a:tc>
                  <a:txBody>
                    <a:bodyPr/>
                    <a:lstStyle/>
                    <a:p>
                      <a:pPr>
                        <a:defRPr sz="700">
                          <a:solidFill>
                            <a:srgbClr val="1A1A2E"/>
                          </a:solidFill>
                        </a:defRPr>
                      </a:pPr>
                      <a:r>
                        <a:t>5,483</a:t>
                      </a:r>
                    </a:p>
                  </a:txBody>
                  <a:tcPr/>
                </a:tc>
                <a:tc>
                  <a:txBody>
                    <a:bodyPr/>
                    <a:lstStyle/>
                    <a:p>
                      <a:pPr>
                        <a:defRPr sz="700">
                          <a:solidFill>
                            <a:srgbClr val="1A1A2E"/>
                          </a:solidFill>
                        </a:defRPr>
                      </a:pPr>
                      <a:r>
                        <a:t>245</a:t>
                      </a:r>
                    </a:p>
                  </a:txBody>
                  <a:tcPr/>
                </a:tc>
              </a:tr>
              <a:tr h="242047">
                <a:tc>
                  <a:txBody>
                    <a:bodyPr/>
                    <a:lstStyle/>
                    <a:p>
                      <a:pPr>
                        <a:defRPr sz="700">
                          <a:solidFill>
                            <a:srgbClr val="1A1A2E"/>
                          </a:solidFill>
                        </a:defRPr>
                      </a:pPr>
                      <a:r>
                        <a:t>Ekspozitura Kline</a:t>
                      </a:r>
                    </a:p>
                  </a:txBody>
                  <a:tcPr/>
                </a:tc>
                <a:tc>
                  <a:txBody>
                    <a:bodyPr/>
                    <a:lstStyle/>
                    <a:p>
                      <a:pPr>
                        <a:defRPr sz="700">
                          <a:solidFill>
                            <a:srgbClr val="1A1A2E"/>
                          </a:solidFill>
                        </a:defRPr>
                      </a:pPr>
                      <a:r>
                        <a:t>Kline</a:t>
                      </a:r>
                    </a:p>
                  </a:txBody>
                  <a:tcPr/>
                </a:tc>
                <a:tc>
                  <a:txBody>
                    <a:bodyPr/>
                    <a:lstStyle/>
                    <a:p>
                      <a:pPr>
                        <a:defRPr sz="700">
                          <a:solidFill>
                            <a:srgbClr val="1A1A2E"/>
                          </a:solidFill>
                        </a:defRPr>
                      </a:pPr>
                      <a:r>
                        <a:t>4.5%</a:t>
                      </a:r>
                    </a:p>
                  </a:txBody>
                  <a:tcPr/>
                </a:tc>
                <a:tc>
                  <a:txBody>
                    <a:bodyPr/>
                    <a:lstStyle/>
                    <a:p>
                      <a:pPr>
                        <a:defRPr sz="700">
                          <a:solidFill>
                            <a:srgbClr val="1A1A2E"/>
                          </a:solidFill>
                        </a:defRPr>
                      </a:pPr>
                      <a:r>
                        <a:t>4,309</a:t>
                      </a:r>
                    </a:p>
                  </a:txBody>
                  <a:tcPr/>
                </a:tc>
                <a:tc>
                  <a:txBody>
                    <a:bodyPr/>
                    <a:lstStyle/>
                    <a:p>
                      <a:pPr>
                        <a:defRPr sz="700">
                          <a:solidFill>
                            <a:srgbClr val="1A1A2E"/>
                          </a:solidFill>
                        </a:defRPr>
                      </a:pPr>
                      <a:r>
                        <a:t>196</a:t>
                      </a:r>
                    </a:p>
                  </a:txBody>
                  <a:tcPr/>
                </a:tc>
              </a:tr>
              <a:tr h="242047">
                <a:tc>
                  <a:txBody>
                    <a:bodyPr/>
                    <a:lstStyle/>
                    <a:p>
                      <a:pPr>
                        <a:defRPr sz="700">
                          <a:solidFill>
                            <a:srgbClr val="1A1A2E"/>
                          </a:solidFill>
                        </a:defRPr>
                      </a:pPr>
                      <a:r>
                        <a:t>Ekspozitura Kacanik</a:t>
                      </a:r>
                    </a:p>
                  </a:txBody>
                  <a:tcPr/>
                </a:tc>
                <a:tc>
                  <a:txBody>
                    <a:bodyPr/>
                    <a:lstStyle/>
                    <a:p>
                      <a:pPr>
                        <a:defRPr sz="700">
                          <a:solidFill>
                            <a:srgbClr val="1A1A2E"/>
                          </a:solidFill>
                        </a:defRPr>
                      </a:pPr>
                      <a:r>
                        <a:t>Kacanik</a:t>
                      </a:r>
                    </a:p>
                  </a:txBody>
                  <a:tcPr/>
                </a:tc>
                <a:tc>
                  <a:txBody>
                    <a:bodyPr/>
                    <a:lstStyle/>
                    <a:p>
                      <a:pPr>
                        <a:defRPr sz="700">
                          <a:solidFill>
                            <a:srgbClr val="1A1A2E"/>
                          </a:solidFill>
                        </a:defRPr>
                      </a:pPr>
                      <a:r>
                        <a:t>4.9%</a:t>
                      </a:r>
                    </a:p>
                  </a:txBody>
                  <a:tcPr/>
                </a:tc>
                <a:tc>
                  <a:txBody>
                    <a:bodyPr/>
                    <a:lstStyle/>
                    <a:p>
                      <a:pPr>
                        <a:defRPr sz="700">
                          <a:solidFill>
                            <a:srgbClr val="1A1A2E"/>
                          </a:solidFill>
                        </a:defRPr>
                      </a:pPr>
                      <a:r>
                        <a:t>5,936</a:t>
                      </a:r>
                    </a:p>
                  </a:txBody>
                  <a:tcPr/>
                </a:tc>
                <a:tc>
                  <a:txBody>
                    <a:bodyPr/>
                    <a:lstStyle/>
                    <a:p>
                      <a:pPr>
                        <a:defRPr sz="700">
                          <a:solidFill>
                            <a:srgbClr val="1A1A2E"/>
                          </a:solidFill>
                        </a:defRPr>
                      </a:pPr>
                      <a:r>
                        <a:t>289</a:t>
                      </a:r>
                    </a:p>
                  </a:txBody>
                  <a:tcPr/>
                </a:tc>
              </a:tr>
              <a:tr h="242047">
                <a:tc>
                  <a:txBody>
                    <a:bodyPr/>
                    <a:lstStyle/>
                    <a:p>
                      <a:pPr>
                        <a:defRPr sz="700">
                          <a:solidFill>
                            <a:srgbClr val="1A1A2E"/>
                          </a:solidFill>
                        </a:defRPr>
                      </a:pPr>
                      <a:r>
                        <a:t>Ekspozitura Mitrovice 2</a:t>
                      </a:r>
                    </a:p>
                  </a:txBody>
                  <a:tcPr/>
                </a:tc>
                <a:tc>
                  <a:txBody>
                    <a:bodyPr/>
                    <a:lstStyle/>
                    <a:p>
                      <a:pPr>
                        <a:defRPr sz="700">
                          <a:solidFill>
                            <a:srgbClr val="1A1A2E"/>
                          </a:solidFill>
                        </a:defRPr>
                      </a:pPr>
                      <a:r>
                        <a:t>Mitrovice</a:t>
                      </a:r>
                    </a:p>
                  </a:txBody>
                  <a:tcPr/>
                </a:tc>
                <a:tc>
                  <a:txBody>
                    <a:bodyPr/>
                    <a:lstStyle/>
                    <a:p>
                      <a:pPr>
                        <a:defRPr sz="700">
                          <a:solidFill>
                            <a:srgbClr val="1A1A2E"/>
                          </a:solidFill>
                        </a:defRPr>
                      </a:pPr>
                      <a:r>
                        <a:t>5.2%</a:t>
                      </a:r>
                    </a:p>
                  </a:txBody>
                  <a:tcPr/>
                </a:tc>
                <a:tc>
                  <a:txBody>
                    <a:bodyPr/>
                    <a:lstStyle/>
                    <a:p>
                      <a:pPr>
                        <a:defRPr sz="700">
                          <a:solidFill>
                            <a:srgbClr val="1A1A2E"/>
                          </a:solidFill>
                        </a:defRPr>
                      </a:pPr>
                      <a:r>
                        <a:t>3,451</a:t>
                      </a:r>
                    </a:p>
                  </a:txBody>
                  <a:tcPr/>
                </a:tc>
                <a:tc>
                  <a:txBody>
                    <a:bodyPr/>
                    <a:lstStyle/>
                    <a:p>
                      <a:pPr>
                        <a:defRPr sz="700">
                          <a:solidFill>
                            <a:srgbClr val="1A1A2E"/>
                          </a:solidFill>
                        </a:defRPr>
                      </a:pPr>
                      <a:r>
                        <a:t>178</a:t>
                      </a:r>
                    </a:p>
                  </a:txBody>
                  <a:tcPr/>
                </a:tc>
              </a:tr>
              <a:tr h="242047">
                <a:tc>
                  <a:txBody>
                    <a:bodyPr/>
                    <a:lstStyle/>
                    <a:p>
                      <a:pPr>
                        <a:defRPr sz="700">
                          <a:solidFill>
                            <a:srgbClr val="1A1A2E"/>
                          </a:solidFill>
                        </a:defRPr>
                      </a:pPr>
                      <a:r>
                        <a:t>Ekspozitura Vushtrri</a:t>
                      </a:r>
                    </a:p>
                  </a:txBody>
                  <a:tcPr/>
                </a:tc>
                <a:tc>
                  <a:txBody>
                    <a:bodyPr/>
                    <a:lstStyle/>
                    <a:p>
                      <a:pPr>
                        <a:defRPr sz="700">
                          <a:solidFill>
                            <a:srgbClr val="1A1A2E"/>
                          </a:solidFill>
                        </a:defRPr>
                      </a:pPr>
                      <a:r>
                        <a:t>Vushtrri</a:t>
                      </a:r>
                    </a:p>
                  </a:txBody>
                  <a:tcPr/>
                </a:tc>
                <a:tc>
                  <a:txBody>
                    <a:bodyPr/>
                    <a:lstStyle/>
                    <a:p>
                      <a:pPr>
                        <a:defRPr sz="700">
                          <a:solidFill>
                            <a:srgbClr val="1A1A2E"/>
                          </a:solidFill>
                        </a:defRPr>
                      </a:pPr>
                      <a:r>
                        <a:t>5.2%</a:t>
                      </a:r>
                    </a:p>
                  </a:txBody>
                  <a:tcPr/>
                </a:tc>
                <a:tc>
                  <a:txBody>
                    <a:bodyPr/>
                    <a:lstStyle/>
                    <a:p>
                      <a:pPr>
                        <a:defRPr sz="700">
                          <a:solidFill>
                            <a:srgbClr val="1A1A2E"/>
                          </a:solidFill>
                        </a:defRPr>
                      </a:pPr>
                      <a:r>
                        <a:t>6,512</a:t>
                      </a:r>
                    </a:p>
                  </a:txBody>
                  <a:tcPr/>
                </a:tc>
                <a:tc>
                  <a:txBody>
                    <a:bodyPr/>
                    <a:lstStyle/>
                    <a:p>
                      <a:pPr>
                        <a:defRPr sz="700">
                          <a:solidFill>
                            <a:srgbClr val="1A1A2E"/>
                          </a:solidFill>
                        </a:defRPr>
                      </a:pPr>
                      <a:r>
                        <a:t>340</a:t>
                      </a:r>
                    </a:p>
                  </a:txBody>
                  <a:tcPr/>
                </a:tc>
              </a:tr>
              <a:tr h="242047">
                <a:tc>
                  <a:txBody>
                    <a:bodyPr/>
                    <a:lstStyle/>
                    <a:p>
                      <a:pPr>
                        <a:defRPr sz="700">
                          <a:solidFill>
                            <a:srgbClr val="1A1A2E"/>
                          </a:solidFill>
                        </a:defRPr>
                      </a:pPr>
                      <a:r>
                        <a:t>Filiali Gjakove</a:t>
                      </a:r>
                    </a:p>
                  </a:txBody>
                  <a:tcPr/>
                </a:tc>
                <a:tc>
                  <a:txBody>
                    <a:bodyPr/>
                    <a:lstStyle/>
                    <a:p>
                      <a:pPr>
                        <a:defRPr sz="700">
                          <a:solidFill>
                            <a:srgbClr val="1A1A2E"/>
                          </a:solidFill>
                        </a:defRPr>
                      </a:pPr>
                      <a:r>
                        <a:t>Gjakove</a:t>
                      </a:r>
                    </a:p>
                  </a:txBody>
                  <a:tcPr/>
                </a:tc>
                <a:tc>
                  <a:txBody>
                    <a:bodyPr/>
                    <a:lstStyle/>
                    <a:p>
                      <a:pPr>
                        <a:defRPr sz="700">
                          <a:solidFill>
                            <a:srgbClr val="1A1A2E"/>
                          </a:solidFill>
                        </a:defRPr>
                      </a:pPr>
                      <a:r>
                        <a:t>5.3%</a:t>
                      </a:r>
                    </a:p>
                  </a:txBody>
                  <a:tcPr/>
                </a:tc>
                <a:tc>
                  <a:txBody>
                    <a:bodyPr/>
                    <a:lstStyle/>
                    <a:p>
                      <a:pPr>
                        <a:defRPr sz="700">
                          <a:solidFill>
                            <a:srgbClr val="1A1A2E"/>
                          </a:solidFill>
                        </a:defRPr>
                      </a:pPr>
                      <a:r>
                        <a:t>8,793</a:t>
                      </a:r>
                    </a:p>
                  </a:txBody>
                  <a:tcPr/>
                </a:tc>
                <a:tc>
                  <a:txBody>
                    <a:bodyPr/>
                    <a:lstStyle/>
                    <a:p>
                      <a:pPr>
                        <a:defRPr sz="700">
                          <a:solidFill>
                            <a:srgbClr val="1A1A2E"/>
                          </a:solidFill>
                        </a:defRPr>
                      </a:pPr>
                      <a:r>
                        <a:t>463</a:t>
                      </a:r>
                    </a:p>
                  </a:txBody>
                  <a:tcPr/>
                </a:tc>
              </a:tr>
              <a:tr h="242047">
                <a:tc>
                  <a:txBody>
                    <a:bodyPr/>
                    <a:lstStyle/>
                    <a:p>
                      <a:pPr>
                        <a:defRPr sz="700">
                          <a:solidFill>
                            <a:srgbClr val="1A1A2E"/>
                          </a:solidFill>
                        </a:defRPr>
                      </a:pPr>
                      <a:r>
                        <a:t>Ekspozitura Kamenice</a:t>
                      </a:r>
                    </a:p>
                  </a:txBody>
                  <a:tcPr/>
                </a:tc>
                <a:tc>
                  <a:txBody>
                    <a:bodyPr/>
                    <a:lstStyle/>
                    <a:p>
                      <a:pPr>
                        <a:defRPr sz="700">
                          <a:solidFill>
                            <a:srgbClr val="1A1A2E"/>
                          </a:solidFill>
                        </a:defRPr>
                      </a:pPr>
                      <a:r>
                        <a:t>Kamenice</a:t>
                      </a:r>
                    </a:p>
                  </a:txBody>
                  <a:tcPr/>
                </a:tc>
                <a:tc>
                  <a:txBody>
                    <a:bodyPr/>
                    <a:lstStyle/>
                    <a:p>
                      <a:pPr>
                        <a:defRPr sz="700">
                          <a:solidFill>
                            <a:srgbClr val="1A1A2E"/>
                          </a:solidFill>
                        </a:defRPr>
                      </a:pPr>
                      <a:r>
                        <a:t>5.4%</a:t>
                      </a:r>
                    </a:p>
                  </a:txBody>
                  <a:tcPr/>
                </a:tc>
                <a:tc>
                  <a:txBody>
                    <a:bodyPr/>
                    <a:lstStyle/>
                    <a:p>
                      <a:pPr>
                        <a:defRPr sz="700">
                          <a:solidFill>
                            <a:srgbClr val="1A1A2E"/>
                          </a:solidFill>
                        </a:defRPr>
                      </a:pPr>
                      <a:r>
                        <a:t>3,227</a:t>
                      </a:r>
                    </a:p>
                  </a:txBody>
                  <a:tcPr/>
                </a:tc>
                <a:tc>
                  <a:txBody>
                    <a:bodyPr/>
                    <a:lstStyle/>
                    <a:p>
                      <a:pPr>
                        <a:defRPr sz="700">
                          <a:solidFill>
                            <a:srgbClr val="1A1A2E"/>
                          </a:solidFill>
                        </a:defRPr>
                      </a:pPr>
                      <a:r>
                        <a:t>175</a:t>
                      </a:r>
                    </a:p>
                  </a:txBody>
                  <a:tcPr/>
                </a:tc>
              </a:tr>
              <a:tr h="242047">
                <a:tc>
                  <a:txBody>
                    <a:bodyPr/>
                    <a:lstStyle/>
                    <a:p>
                      <a:pPr>
                        <a:defRPr sz="700">
                          <a:solidFill>
                            <a:srgbClr val="1A1A2E"/>
                          </a:solidFill>
                        </a:defRPr>
                      </a:pPr>
                      <a:r>
                        <a:t>Ekspozitura Suhareke</a:t>
                      </a:r>
                    </a:p>
                  </a:txBody>
                  <a:tcPr/>
                </a:tc>
                <a:tc>
                  <a:txBody>
                    <a:bodyPr/>
                    <a:lstStyle/>
                    <a:p>
                      <a:pPr>
                        <a:defRPr sz="700">
                          <a:solidFill>
                            <a:srgbClr val="1A1A2E"/>
                          </a:solidFill>
                        </a:defRPr>
                      </a:pPr>
                      <a:r>
                        <a:t>Suhareke</a:t>
                      </a:r>
                    </a:p>
                  </a:txBody>
                  <a:tcPr/>
                </a:tc>
                <a:tc>
                  <a:txBody>
                    <a:bodyPr/>
                    <a:lstStyle/>
                    <a:p>
                      <a:pPr>
                        <a:defRPr sz="700">
                          <a:solidFill>
                            <a:srgbClr val="1A1A2E"/>
                          </a:solidFill>
                        </a:defRPr>
                      </a:pPr>
                      <a:r>
                        <a:t>5.6%</a:t>
                      </a:r>
                    </a:p>
                  </a:txBody>
                  <a:tcPr/>
                </a:tc>
                <a:tc>
                  <a:txBody>
                    <a:bodyPr/>
                    <a:lstStyle/>
                    <a:p>
                      <a:pPr>
                        <a:defRPr sz="700">
                          <a:solidFill>
                            <a:srgbClr val="1A1A2E"/>
                          </a:solidFill>
                        </a:defRPr>
                      </a:pPr>
                      <a:r>
                        <a:t>5,839</a:t>
                      </a:r>
                    </a:p>
                  </a:txBody>
                  <a:tcPr/>
                </a:tc>
                <a:tc>
                  <a:txBody>
                    <a:bodyPr/>
                    <a:lstStyle/>
                    <a:p>
                      <a:pPr>
                        <a:defRPr sz="700">
                          <a:solidFill>
                            <a:srgbClr val="1A1A2E"/>
                          </a:solidFill>
                        </a:defRPr>
                      </a:pPr>
                      <a:r>
                        <a:t>329</a:t>
                      </a:r>
                    </a:p>
                  </a:txBody>
                  <a:tcPr/>
                </a:tc>
              </a:tr>
              <a:tr h="242048">
                <a:tc>
                  <a:txBody>
                    <a:bodyPr/>
                    <a:lstStyle/>
                    <a:p>
                      <a:pPr>
                        <a:defRPr sz="700">
                          <a:solidFill>
                            <a:srgbClr val="1A1A2E"/>
                          </a:solidFill>
                        </a:defRPr>
                      </a:pPr>
                      <a:r>
                        <a:t>Ekspozitura Skenderaj</a:t>
                      </a:r>
                    </a:p>
                  </a:txBody>
                  <a:tcPr/>
                </a:tc>
                <a:tc>
                  <a:txBody>
                    <a:bodyPr/>
                    <a:lstStyle/>
                    <a:p>
                      <a:pPr>
                        <a:defRPr sz="700">
                          <a:solidFill>
                            <a:srgbClr val="1A1A2E"/>
                          </a:solidFill>
                        </a:defRPr>
                      </a:pPr>
                      <a:r>
                        <a:t>Skenderaj</a:t>
                      </a:r>
                    </a:p>
                  </a:txBody>
                  <a:tcPr/>
                </a:tc>
                <a:tc>
                  <a:txBody>
                    <a:bodyPr/>
                    <a:lstStyle/>
                    <a:p>
                      <a:pPr>
                        <a:defRPr sz="700">
                          <a:solidFill>
                            <a:srgbClr val="1A1A2E"/>
                          </a:solidFill>
                        </a:defRPr>
                      </a:pPr>
                      <a:r>
                        <a:t>5.7%</a:t>
                      </a:r>
                    </a:p>
                  </a:txBody>
                  <a:tcPr/>
                </a:tc>
                <a:tc>
                  <a:txBody>
                    <a:bodyPr/>
                    <a:lstStyle/>
                    <a:p>
                      <a:pPr>
                        <a:defRPr sz="700">
                          <a:solidFill>
                            <a:srgbClr val="1A1A2E"/>
                          </a:solidFill>
                        </a:defRPr>
                      </a:pPr>
                      <a:r>
                        <a:t>6,061</a:t>
                      </a:r>
                    </a:p>
                  </a:txBody>
                  <a:tcPr/>
                </a:tc>
                <a:tc>
                  <a:txBody>
                    <a:bodyPr/>
                    <a:lstStyle/>
                    <a:p>
                      <a:pPr>
                        <a:defRPr sz="700">
                          <a:solidFill>
                            <a:srgbClr val="1A1A2E"/>
                          </a:solidFill>
                        </a:defRPr>
                      </a:pPr>
                      <a:r>
                        <a:t>346</a:t>
                      </a:r>
                    </a:p>
                  </a:txBody>
                  <a:tcPr/>
                </a:tc>
              </a:tr>
            </a:tbl>
          </a:graphicData>
        </a:graphic>
      </p:graphicFrame>
      <p:sp>
        <p:nvSpPr>
          <p:cNvPr id="8" name="TextBox 7"/>
          <p:cNvSpPr txBox="1"/>
          <p:nvPr/>
        </p:nvSpPr>
        <p:spPr>
          <a:xfrm>
            <a:off x="6309360" y="1783080"/>
            <a:ext cx="5486400" cy="228600"/>
          </a:xfrm>
          <a:prstGeom prst="rect">
            <a:avLst/>
          </a:prstGeom>
          <a:noFill/>
        </p:spPr>
        <p:txBody>
          <a:bodyPr wrap="square">
            <a:spAutoFit/>
          </a:bodyPr>
          <a:lstStyle/>
          <a:p>
            <a:pPr algn="l">
              <a:defRPr sz="1000" b="1">
                <a:solidFill>
                  <a:srgbClr val="059669"/>
                </a:solidFill>
              </a:defRPr>
            </a:pPr>
            <a:r>
              <a:t>DEFEND / DEEPEN (15 branches at or above median)</a:t>
            </a:r>
          </a:p>
        </p:txBody>
      </p:sp>
      <p:graphicFrame>
        <p:nvGraphicFramePr>
          <p:cNvPr id="9" name="Table 8"/>
          <p:cNvGraphicFramePr>
            <a:graphicFrameLocks noGrp="1"/>
          </p:cNvGraphicFramePr>
          <p:nvPr/>
        </p:nvGraphicFramePr>
        <p:xfrm>
          <a:off x="6309360" y="2057400"/>
          <a:ext cx="5486400" cy="4114800"/>
        </p:xfrm>
        <a:graphic>
          <a:graphicData uri="http://schemas.openxmlformats.org/drawingml/2006/table">
            <a:tbl>
              <a:tblPr firstRow="1" bandRow="1">
                <a:tableStyleId>{5C22544A-7EE6-4342-B048-85BDC9FD1C3A}</a:tableStyleId>
              </a:tblPr>
              <a:tblGrid>
                <a:gridCol w="2103120"/>
                <a:gridCol w="822960"/>
                <a:gridCol w="731520"/>
                <a:gridCol w="914400"/>
                <a:gridCol w="914400"/>
              </a:tblGrid>
              <a:tr h="257175">
                <a:tc>
                  <a:txBody>
                    <a:bodyPr/>
                    <a:lstStyle/>
                    <a:p>
                      <a:pPr>
                        <a:defRPr sz="700" b="1">
                          <a:solidFill>
                            <a:srgbClr val="FFFFFF"/>
                          </a:solidFill>
                        </a:defRPr>
                      </a:pPr>
                      <a:r>
                        <a:t>Branch</a:t>
                      </a:r>
                    </a:p>
                  </a:txBody>
                  <a:tcPr>
                    <a:solidFill>
                      <a:srgbClr val="059669"/>
                    </a:solidFill>
                  </a:tcPr>
                </a:tc>
                <a:tc>
                  <a:txBody>
                    <a:bodyPr/>
                    <a:lstStyle/>
                    <a:p>
                      <a:pPr>
                        <a:defRPr sz="700" b="1">
                          <a:solidFill>
                            <a:srgbClr val="FFFFFF"/>
                          </a:solidFill>
                        </a:defRPr>
                      </a:pPr>
                      <a:r>
                        <a:t>City</a:t>
                      </a:r>
                    </a:p>
                  </a:txBody>
                  <a:tcPr>
                    <a:solidFill>
                      <a:srgbClr val="059669"/>
                    </a:solidFill>
                  </a:tcPr>
                </a:tc>
                <a:tc>
                  <a:txBody>
                    <a:bodyPr/>
                    <a:lstStyle/>
                    <a:p>
                      <a:pPr>
                        <a:defRPr sz="700" b="1">
                          <a:solidFill>
                            <a:srgbClr val="FFFFFF"/>
                          </a:solidFill>
                        </a:defRPr>
                      </a:pPr>
                      <a:r>
                        <a:t>CL Pen%</a:t>
                      </a:r>
                    </a:p>
                  </a:txBody>
                  <a:tcPr>
                    <a:solidFill>
                      <a:srgbClr val="059669"/>
                    </a:solidFill>
                  </a:tcPr>
                </a:tc>
                <a:tc>
                  <a:txBody>
                    <a:bodyPr/>
                    <a:lstStyle/>
                    <a:p>
                      <a:pPr>
                        <a:defRPr sz="700" b="1">
                          <a:solidFill>
                            <a:srgbClr val="FFFFFF"/>
                          </a:solidFill>
                        </a:defRPr>
                      </a:pPr>
                      <a:r>
                        <a:t>Active PI</a:t>
                      </a:r>
                    </a:p>
                  </a:txBody>
                  <a:tcPr>
                    <a:solidFill>
                      <a:srgbClr val="059669"/>
                    </a:solidFill>
                  </a:tcPr>
                </a:tc>
                <a:tc>
                  <a:txBody>
                    <a:bodyPr/>
                    <a:lstStyle/>
                    <a:p>
                      <a:pPr>
                        <a:defRPr sz="700" b="1">
                          <a:solidFill>
                            <a:srgbClr val="FFFFFF"/>
                          </a:solidFill>
                        </a:defRPr>
                      </a:pPr>
                      <a:r>
                        <a:t>CL Count</a:t>
                      </a:r>
                    </a:p>
                  </a:txBody>
                  <a:tcPr>
                    <a:solidFill>
                      <a:srgbClr val="059669"/>
                    </a:solidFill>
                  </a:tcPr>
                </a:tc>
              </a:tr>
              <a:tr h="257175">
                <a:tc>
                  <a:txBody>
                    <a:bodyPr/>
                    <a:lstStyle/>
                    <a:p>
                      <a:pPr>
                        <a:defRPr sz="700">
                          <a:solidFill>
                            <a:srgbClr val="1A1A2E"/>
                          </a:solidFill>
                        </a:defRPr>
                      </a:pPr>
                      <a:r>
                        <a:t>Ekspozitura Bregu i Diellit</a:t>
                      </a:r>
                    </a:p>
                  </a:txBody>
                  <a:tcPr/>
                </a:tc>
                <a:tc>
                  <a:txBody>
                    <a:bodyPr/>
                    <a:lstStyle/>
                    <a:p>
                      <a:pPr>
                        <a:defRPr sz="700">
                          <a:solidFill>
                            <a:srgbClr val="1A1A2E"/>
                          </a:solidFill>
                        </a:defRPr>
                      </a:pPr>
                      <a:r>
                        <a:t>Prishtine</a:t>
                      </a:r>
                    </a:p>
                  </a:txBody>
                  <a:tcPr/>
                </a:tc>
                <a:tc>
                  <a:txBody>
                    <a:bodyPr/>
                    <a:lstStyle/>
                    <a:p>
                      <a:pPr>
                        <a:defRPr sz="700">
                          <a:solidFill>
                            <a:srgbClr val="1A1A2E"/>
                          </a:solidFill>
                        </a:defRPr>
                      </a:pPr>
                      <a:r>
                        <a:t>16.7%</a:t>
                      </a:r>
                    </a:p>
                  </a:txBody>
                  <a:tcPr/>
                </a:tc>
                <a:tc>
                  <a:txBody>
                    <a:bodyPr/>
                    <a:lstStyle/>
                    <a:p>
                      <a:pPr>
                        <a:defRPr sz="700">
                          <a:solidFill>
                            <a:srgbClr val="1A1A2E"/>
                          </a:solidFill>
                        </a:defRPr>
                      </a:pPr>
                      <a:r>
                        <a:t>2,436</a:t>
                      </a:r>
                    </a:p>
                  </a:txBody>
                  <a:tcPr/>
                </a:tc>
                <a:tc>
                  <a:txBody>
                    <a:bodyPr/>
                    <a:lstStyle/>
                    <a:p>
                      <a:pPr>
                        <a:defRPr sz="700">
                          <a:solidFill>
                            <a:srgbClr val="1A1A2E"/>
                          </a:solidFill>
                        </a:defRPr>
                      </a:pPr>
                      <a:r>
                        <a:t>407</a:t>
                      </a:r>
                    </a:p>
                  </a:txBody>
                  <a:tcPr/>
                </a:tc>
              </a:tr>
              <a:tr h="257175">
                <a:tc>
                  <a:txBody>
                    <a:bodyPr/>
                    <a:lstStyle/>
                    <a:p>
                      <a:pPr>
                        <a:defRPr sz="700">
                          <a:solidFill>
                            <a:srgbClr val="1A1A2E"/>
                          </a:solidFill>
                        </a:defRPr>
                      </a:pPr>
                      <a:r>
                        <a:t>Ekspozitura Hani i Elezit</a:t>
                      </a:r>
                    </a:p>
                  </a:txBody>
                  <a:tcPr/>
                </a:tc>
                <a:tc>
                  <a:txBody>
                    <a:bodyPr/>
                    <a:lstStyle/>
                    <a:p>
                      <a:pPr>
                        <a:defRPr sz="700">
                          <a:solidFill>
                            <a:srgbClr val="1A1A2E"/>
                          </a:solidFill>
                        </a:defRPr>
                      </a:pPr>
                      <a:r>
                        <a:t>Hani i Elezit</a:t>
                      </a:r>
                    </a:p>
                  </a:txBody>
                  <a:tcPr/>
                </a:tc>
                <a:tc>
                  <a:txBody>
                    <a:bodyPr/>
                    <a:lstStyle/>
                    <a:p>
                      <a:pPr>
                        <a:defRPr sz="700">
                          <a:solidFill>
                            <a:srgbClr val="1A1A2E"/>
                          </a:solidFill>
                        </a:defRPr>
                      </a:pPr>
                      <a:r>
                        <a:t>10.1%</a:t>
                      </a:r>
                    </a:p>
                  </a:txBody>
                  <a:tcPr/>
                </a:tc>
                <a:tc>
                  <a:txBody>
                    <a:bodyPr/>
                    <a:lstStyle/>
                    <a:p>
                      <a:pPr>
                        <a:defRPr sz="700">
                          <a:solidFill>
                            <a:srgbClr val="1A1A2E"/>
                          </a:solidFill>
                        </a:defRPr>
                      </a:pPr>
                      <a:r>
                        <a:t>3,384</a:t>
                      </a:r>
                    </a:p>
                  </a:txBody>
                  <a:tcPr/>
                </a:tc>
                <a:tc>
                  <a:txBody>
                    <a:bodyPr/>
                    <a:lstStyle/>
                    <a:p>
                      <a:pPr>
                        <a:defRPr sz="700">
                          <a:solidFill>
                            <a:srgbClr val="1A1A2E"/>
                          </a:solidFill>
                        </a:defRPr>
                      </a:pPr>
                      <a:r>
                        <a:t>341</a:t>
                      </a:r>
                    </a:p>
                  </a:txBody>
                  <a:tcPr/>
                </a:tc>
              </a:tr>
              <a:tr h="257175">
                <a:tc>
                  <a:txBody>
                    <a:bodyPr/>
                    <a:lstStyle/>
                    <a:p>
                      <a:pPr>
                        <a:defRPr sz="700">
                          <a:solidFill>
                            <a:srgbClr val="1A1A2E"/>
                          </a:solidFill>
                        </a:defRPr>
                      </a:pPr>
                      <a:r>
                        <a:t>Ekspozitura Fushe Kosove</a:t>
                      </a:r>
                    </a:p>
                  </a:txBody>
                  <a:tcPr/>
                </a:tc>
                <a:tc>
                  <a:txBody>
                    <a:bodyPr/>
                    <a:lstStyle/>
                    <a:p>
                      <a:pPr>
                        <a:defRPr sz="700">
                          <a:solidFill>
                            <a:srgbClr val="1A1A2E"/>
                          </a:solidFill>
                        </a:defRPr>
                      </a:pPr>
                      <a:r>
                        <a:t>Fushe Kosove</a:t>
                      </a:r>
                    </a:p>
                  </a:txBody>
                  <a:tcPr/>
                </a:tc>
                <a:tc>
                  <a:txBody>
                    <a:bodyPr/>
                    <a:lstStyle/>
                    <a:p>
                      <a:pPr>
                        <a:defRPr sz="700">
                          <a:solidFill>
                            <a:srgbClr val="1A1A2E"/>
                          </a:solidFill>
                        </a:defRPr>
                      </a:pPr>
                      <a:r>
                        <a:t>9.8%</a:t>
                      </a:r>
                    </a:p>
                  </a:txBody>
                  <a:tcPr/>
                </a:tc>
                <a:tc>
                  <a:txBody>
                    <a:bodyPr/>
                    <a:lstStyle/>
                    <a:p>
                      <a:pPr>
                        <a:defRPr sz="700">
                          <a:solidFill>
                            <a:srgbClr val="1A1A2E"/>
                          </a:solidFill>
                        </a:defRPr>
                      </a:pPr>
                      <a:r>
                        <a:t>6,308</a:t>
                      </a:r>
                    </a:p>
                  </a:txBody>
                  <a:tcPr/>
                </a:tc>
                <a:tc>
                  <a:txBody>
                    <a:bodyPr/>
                    <a:lstStyle/>
                    <a:p>
                      <a:pPr>
                        <a:defRPr sz="700">
                          <a:solidFill>
                            <a:srgbClr val="1A1A2E"/>
                          </a:solidFill>
                        </a:defRPr>
                      </a:pPr>
                      <a:r>
                        <a:t>618</a:t>
                      </a:r>
                    </a:p>
                  </a:txBody>
                  <a:tcPr/>
                </a:tc>
              </a:tr>
              <a:tr h="257175">
                <a:tc>
                  <a:txBody>
                    <a:bodyPr/>
                    <a:lstStyle/>
                    <a:p>
                      <a:pPr>
                        <a:defRPr sz="700">
                          <a:solidFill>
                            <a:srgbClr val="1A1A2E"/>
                          </a:solidFill>
                        </a:defRPr>
                      </a:pPr>
                      <a:r>
                        <a:t>Ekspozitura Prishtine-Llapit</a:t>
                      </a:r>
                    </a:p>
                  </a:txBody>
                  <a:tcPr/>
                </a:tc>
                <a:tc>
                  <a:txBody>
                    <a:bodyPr/>
                    <a:lstStyle/>
                    <a:p>
                      <a:pPr>
                        <a:defRPr sz="700">
                          <a:solidFill>
                            <a:srgbClr val="1A1A2E"/>
                          </a:solidFill>
                        </a:defRPr>
                      </a:pPr>
                      <a:r>
                        <a:t>Prishtine</a:t>
                      </a:r>
                    </a:p>
                  </a:txBody>
                  <a:tcPr/>
                </a:tc>
                <a:tc>
                  <a:txBody>
                    <a:bodyPr/>
                    <a:lstStyle/>
                    <a:p>
                      <a:pPr>
                        <a:defRPr sz="700">
                          <a:solidFill>
                            <a:srgbClr val="1A1A2E"/>
                          </a:solidFill>
                        </a:defRPr>
                      </a:pPr>
                      <a:r>
                        <a:t>9.2%</a:t>
                      </a:r>
                    </a:p>
                  </a:txBody>
                  <a:tcPr/>
                </a:tc>
                <a:tc>
                  <a:txBody>
                    <a:bodyPr/>
                    <a:lstStyle/>
                    <a:p>
                      <a:pPr>
                        <a:defRPr sz="700">
                          <a:solidFill>
                            <a:srgbClr val="1A1A2E"/>
                          </a:solidFill>
                        </a:defRPr>
                      </a:pPr>
                      <a:r>
                        <a:t>5,949</a:t>
                      </a:r>
                    </a:p>
                  </a:txBody>
                  <a:tcPr/>
                </a:tc>
                <a:tc>
                  <a:txBody>
                    <a:bodyPr/>
                    <a:lstStyle/>
                    <a:p>
                      <a:pPr>
                        <a:defRPr sz="700">
                          <a:solidFill>
                            <a:srgbClr val="1A1A2E"/>
                          </a:solidFill>
                        </a:defRPr>
                      </a:pPr>
                      <a:r>
                        <a:t>547</a:t>
                      </a:r>
                    </a:p>
                  </a:txBody>
                  <a:tcPr/>
                </a:tc>
              </a:tr>
              <a:tr h="257175">
                <a:tc>
                  <a:txBody>
                    <a:bodyPr/>
                    <a:lstStyle/>
                    <a:p>
                      <a:pPr>
                        <a:defRPr sz="700">
                          <a:solidFill>
                            <a:srgbClr val="1A1A2E"/>
                          </a:solidFill>
                        </a:defRPr>
                      </a:pPr>
                      <a:r>
                        <a:t>Ekspozitura Obiliq</a:t>
                      </a:r>
                    </a:p>
                  </a:txBody>
                  <a:tcPr/>
                </a:tc>
                <a:tc>
                  <a:txBody>
                    <a:bodyPr/>
                    <a:lstStyle/>
                    <a:p>
                      <a:pPr>
                        <a:defRPr sz="700">
                          <a:solidFill>
                            <a:srgbClr val="1A1A2E"/>
                          </a:solidFill>
                        </a:defRPr>
                      </a:pPr>
                      <a:r>
                        <a:t>Obiliq</a:t>
                      </a:r>
                    </a:p>
                  </a:txBody>
                  <a:tcPr/>
                </a:tc>
                <a:tc>
                  <a:txBody>
                    <a:bodyPr/>
                    <a:lstStyle/>
                    <a:p>
                      <a:pPr>
                        <a:defRPr sz="700">
                          <a:solidFill>
                            <a:srgbClr val="1A1A2E"/>
                          </a:solidFill>
                        </a:defRPr>
                      </a:pPr>
                      <a:r>
                        <a:t>8.8%</a:t>
                      </a:r>
                    </a:p>
                  </a:txBody>
                  <a:tcPr/>
                </a:tc>
                <a:tc>
                  <a:txBody>
                    <a:bodyPr/>
                    <a:lstStyle/>
                    <a:p>
                      <a:pPr>
                        <a:defRPr sz="700">
                          <a:solidFill>
                            <a:srgbClr val="1A1A2E"/>
                          </a:solidFill>
                        </a:defRPr>
                      </a:pPr>
                      <a:r>
                        <a:t>4,129</a:t>
                      </a:r>
                    </a:p>
                  </a:txBody>
                  <a:tcPr/>
                </a:tc>
                <a:tc>
                  <a:txBody>
                    <a:bodyPr/>
                    <a:lstStyle/>
                    <a:p>
                      <a:pPr>
                        <a:defRPr sz="700">
                          <a:solidFill>
                            <a:srgbClr val="1A1A2E"/>
                          </a:solidFill>
                        </a:defRPr>
                      </a:pPr>
                      <a:r>
                        <a:t>364</a:t>
                      </a:r>
                    </a:p>
                  </a:txBody>
                  <a:tcPr/>
                </a:tc>
              </a:tr>
              <a:tr h="257175">
                <a:tc>
                  <a:txBody>
                    <a:bodyPr/>
                    <a:lstStyle/>
                    <a:p>
                      <a:pPr>
                        <a:defRPr sz="700">
                          <a:solidFill>
                            <a:srgbClr val="1A1A2E"/>
                          </a:solidFill>
                        </a:defRPr>
                      </a:pPr>
                      <a:r>
                        <a:t>Ekspozitura Drenas</a:t>
                      </a:r>
                    </a:p>
                  </a:txBody>
                  <a:tcPr/>
                </a:tc>
                <a:tc>
                  <a:txBody>
                    <a:bodyPr/>
                    <a:lstStyle/>
                    <a:p>
                      <a:pPr>
                        <a:defRPr sz="700">
                          <a:solidFill>
                            <a:srgbClr val="1A1A2E"/>
                          </a:solidFill>
                        </a:defRPr>
                      </a:pPr>
                      <a:r>
                        <a:t>Drenas</a:t>
                      </a:r>
                    </a:p>
                  </a:txBody>
                  <a:tcPr/>
                </a:tc>
                <a:tc>
                  <a:txBody>
                    <a:bodyPr/>
                    <a:lstStyle/>
                    <a:p>
                      <a:pPr>
                        <a:defRPr sz="700">
                          <a:solidFill>
                            <a:srgbClr val="1A1A2E"/>
                          </a:solidFill>
                        </a:defRPr>
                      </a:pPr>
                      <a:r>
                        <a:t>7.6%</a:t>
                      </a:r>
                    </a:p>
                  </a:txBody>
                  <a:tcPr/>
                </a:tc>
                <a:tc>
                  <a:txBody>
                    <a:bodyPr/>
                    <a:lstStyle/>
                    <a:p>
                      <a:pPr>
                        <a:defRPr sz="700">
                          <a:solidFill>
                            <a:srgbClr val="1A1A2E"/>
                          </a:solidFill>
                        </a:defRPr>
                      </a:pPr>
                      <a:r>
                        <a:t>7,639</a:t>
                      </a:r>
                    </a:p>
                  </a:txBody>
                  <a:tcPr/>
                </a:tc>
                <a:tc>
                  <a:txBody>
                    <a:bodyPr/>
                    <a:lstStyle/>
                    <a:p>
                      <a:pPr>
                        <a:defRPr sz="700">
                          <a:solidFill>
                            <a:srgbClr val="1A1A2E"/>
                          </a:solidFill>
                        </a:defRPr>
                      </a:pPr>
                      <a:r>
                        <a:t>578</a:t>
                      </a:r>
                    </a:p>
                  </a:txBody>
                  <a:tcPr/>
                </a:tc>
              </a:tr>
              <a:tr h="257175">
                <a:tc>
                  <a:txBody>
                    <a:bodyPr/>
                    <a:lstStyle/>
                    <a:p>
                      <a:pPr>
                        <a:defRPr sz="700">
                          <a:solidFill>
                            <a:srgbClr val="1A1A2E"/>
                          </a:solidFill>
                        </a:defRPr>
                      </a:pPr>
                      <a:r>
                        <a:t>Filiali Prishtine</a:t>
                      </a:r>
                    </a:p>
                  </a:txBody>
                  <a:tcPr/>
                </a:tc>
                <a:tc>
                  <a:txBody>
                    <a:bodyPr/>
                    <a:lstStyle/>
                    <a:p>
                      <a:pPr>
                        <a:defRPr sz="700">
                          <a:solidFill>
                            <a:srgbClr val="1A1A2E"/>
                          </a:solidFill>
                        </a:defRPr>
                      </a:pPr>
                      <a:r>
                        <a:t>Prishtine</a:t>
                      </a:r>
                    </a:p>
                  </a:txBody>
                  <a:tcPr/>
                </a:tc>
                <a:tc>
                  <a:txBody>
                    <a:bodyPr/>
                    <a:lstStyle/>
                    <a:p>
                      <a:pPr>
                        <a:defRPr sz="700">
                          <a:solidFill>
                            <a:srgbClr val="1A1A2E"/>
                          </a:solidFill>
                        </a:defRPr>
                      </a:pPr>
                      <a:r>
                        <a:t>6.7%</a:t>
                      </a:r>
                    </a:p>
                  </a:txBody>
                  <a:tcPr/>
                </a:tc>
                <a:tc>
                  <a:txBody>
                    <a:bodyPr/>
                    <a:lstStyle/>
                    <a:p>
                      <a:pPr>
                        <a:defRPr sz="700">
                          <a:solidFill>
                            <a:srgbClr val="1A1A2E"/>
                          </a:solidFill>
                        </a:defRPr>
                      </a:pPr>
                      <a:r>
                        <a:t>16,704</a:t>
                      </a:r>
                    </a:p>
                  </a:txBody>
                  <a:tcPr/>
                </a:tc>
                <a:tc>
                  <a:txBody>
                    <a:bodyPr/>
                    <a:lstStyle/>
                    <a:p>
                      <a:pPr>
                        <a:defRPr sz="700">
                          <a:solidFill>
                            <a:srgbClr val="1A1A2E"/>
                          </a:solidFill>
                        </a:defRPr>
                      </a:pPr>
                      <a:r>
                        <a:t>1122</a:t>
                      </a:r>
                    </a:p>
                  </a:txBody>
                  <a:tcPr/>
                </a:tc>
              </a:tr>
              <a:tr h="257175">
                <a:tc>
                  <a:txBody>
                    <a:bodyPr/>
                    <a:lstStyle/>
                    <a:p>
                      <a:pPr>
                        <a:defRPr sz="700">
                          <a:solidFill>
                            <a:srgbClr val="1A1A2E"/>
                          </a:solidFill>
                        </a:defRPr>
                      </a:pPr>
                      <a:r>
                        <a:t>Filiali 1001 Prishtine</a:t>
                      </a:r>
                    </a:p>
                  </a:txBody>
                  <a:tcPr/>
                </a:tc>
                <a:tc>
                  <a:txBody>
                    <a:bodyPr/>
                    <a:lstStyle/>
                    <a:p>
                      <a:pPr>
                        <a:defRPr sz="700">
                          <a:solidFill>
                            <a:srgbClr val="1A1A2E"/>
                          </a:solidFill>
                        </a:defRPr>
                      </a:pPr>
                      <a:r>
                        <a:t>Prishtine</a:t>
                      </a:r>
                    </a:p>
                  </a:txBody>
                  <a:tcPr/>
                </a:tc>
                <a:tc>
                  <a:txBody>
                    <a:bodyPr/>
                    <a:lstStyle/>
                    <a:p>
                      <a:pPr>
                        <a:defRPr sz="700">
                          <a:solidFill>
                            <a:srgbClr val="1A1A2E"/>
                          </a:solidFill>
                        </a:defRPr>
                      </a:pPr>
                      <a:r>
                        <a:t>6.6%</a:t>
                      </a:r>
                    </a:p>
                  </a:txBody>
                  <a:tcPr/>
                </a:tc>
                <a:tc>
                  <a:txBody>
                    <a:bodyPr/>
                    <a:lstStyle/>
                    <a:p>
                      <a:pPr>
                        <a:defRPr sz="700">
                          <a:solidFill>
                            <a:srgbClr val="1A1A2E"/>
                          </a:solidFill>
                        </a:defRPr>
                      </a:pPr>
                      <a:r>
                        <a:t>23,530</a:t>
                      </a:r>
                    </a:p>
                  </a:txBody>
                  <a:tcPr/>
                </a:tc>
                <a:tc>
                  <a:txBody>
                    <a:bodyPr/>
                    <a:lstStyle/>
                    <a:p>
                      <a:pPr>
                        <a:defRPr sz="700">
                          <a:solidFill>
                            <a:srgbClr val="1A1A2E"/>
                          </a:solidFill>
                        </a:defRPr>
                      </a:pPr>
                      <a:r>
                        <a:t>1549</a:t>
                      </a:r>
                    </a:p>
                  </a:txBody>
                  <a:tcPr/>
                </a:tc>
              </a:tr>
              <a:tr h="257175">
                <a:tc>
                  <a:txBody>
                    <a:bodyPr/>
                    <a:lstStyle/>
                    <a:p>
                      <a:pPr>
                        <a:defRPr sz="700">
                          <a:solidFill>
                            <a:srgbClr val="1A1A2E"/>
                          </a:solidFill>
                        </a:defRPr>
                      </a:pPr>
                      <a:r>
                        <a:t>Ekspozitura Prizren 2</a:t>
                      </a:r>
                    </a:p>
                  </a:txBody>
                  <a:tcPr/>
                </a:tc>
                <a:tc>
                  <a:txBody>
                    <a:bodyPr/>
                    <a:lstStyle/>
                    <a:p>
                      <a:pPr>
                        <a:defRPr sz="700">
                          <a:solidFill>
                            <a:srgbClr val="1A1A2E"/>
                          </a:solidFill>
                        </a:defRPr>
                      </a:pPr>
                      <a:r>
                        <a:t>Prizren</a:t>
                      </a:r>
                    </a:p>
                  </a:txBody>
                  <a:tcPr/>
                </a:tc>
                <a:tc>
                  <a:txBody>
                    <a:bodyPr/>
                    <a:lstStyle/>
                    <a:p>
                      <a:pPr>
                        <a:defRPr sz="700">
                          <a:solidFill>
                            <a:srgbClr val="1A1A2E"/>
                          </a:solidFill>
                        </a:defRPr>
                      </a:pPr>
                      <a:r>
                        <a:t>6.4%</a:t>
                      </a:r>
                    </a:p>
                  </a:txBody>
                  <a:tcPr/>
                </a:tc>
                <a:tc>
                  <a:txBody>
                    <a:bodyPr/>
                    <a:lstStyle/>
                    <a:p>
                      <a:pPr>
                        <a:defRPr sz="700">
                          <a:solidFill>
                            <a:srgbClr val="1A1A2E"/>
                          </a:solidFill>
                        </a:defRPr>
                      </a:pPr>
                      <a:r>
                        <a:t>4,529</a:t>
                      </a:r>
                    </a:p>
                  </a:txBody>
                  <a:tcPr/>
                </a:tc>
                <a:tc>
                  <a:txBody>
                    <a:bodyPr/>
                    <a:lstStyle/>
                    <a:p>
                      <a:pPr>
                        <a:defRPr sz="700">
                          <a:solidFill>
                            <a:srgbClr val="1A1A2E"/>
                          </a:solidFill>
                        </a:defRPr>
                      </a:pPr>
                      <a:r>
                        <a:t>289</a:t>
                      </a:r>
                    </a:p>
                  </a:txBody>
                  <a:tcPr/>
                </a:tc>
              </a:tr>
              <a:tr h="257175">
                <a:tc>
                  <a:txBody>
                    <a:bodyPr/>
                    <a:lstStyle/>
                    <a:p>
                      <a:pPr>
                        <a:defRPr sz="700">
                          <a:solidFill>
                            <a:srgbClr val="1A1A2E"/>
                          </a:solidFill>
                        </a:defRPr>
                      </a:pPr>
                      <a:r>
                        <a:t>Ekspozitura Istog</a:t>
                      </a:r>
                    </a:p>
                  </a:txBody>
                  <a:tcPr/>
                </a:tc>
                <a:tc>
                  <a:txBody>
                    <a:bodyPr/>
                    <a:lstStyle/>
                    <a:p>
                      <a:pPr>
                        <a:defRPr sz="700">
                          <a:solidFill>
                            <a:srgbClr val="1A1A2E"/>
                          </a:solidFill>
                        </a:defRPr>
                      </a:pPr>
                      <a:r>
                        <a:t>Istog</a:t>
                      </a:r>
                    </a:p>
                  </a:txBody>
                  <a:tcPr/>
                </a:tc>
                <a:tc>
                  <a:txBody>
                    <a:bodyPr/>
                    <a:lstStyle/>
                    <a:p>
                      <a:pPr>
                        <a:defRPr sz="700">
                          <a:solidFill>
                            <a:srgbClr val="1A1A2E"/>
                          </a:solidFill>
                        </a:defRPr>
                      </a:pPr>
                      <a:r>
                        <a:t>6.3%</a:t>
                      </a:r>
                    </a:p>
                  </a:txBody>
                  <a:tcPr/>
                </a:tc>
                <a:tc>
                  <a:txBody>
                    <a:bodyPr/>
                    <a:lstStyle/>
                    <a:p>
                      <a:pPr>
                        <a:defRPr sz="700">
                          <a:solidFill>
                            <a:srgbClr val="1A1A2E"/>
                          </a:solidFill>
                        </a:defRPr>
                      </a:pPr>
                      <a:r>
                        <a:t>5,112</a:t>
                      </a:r>
                    </a:p>
                  </a:txBody>
                  <a:tcPr/>
                </a:tc>
                <a:tc>
                  <a:txBody>
                    <a:bodyPr/>
                    <a:lstStyle/>
                    <a:p>
                      <a:pPr>
                        <a:defRPr sz="700">
                          <a:solidFill>
                            <a:srgbClr val="1A1A2E"/>
                          </a:solidFill>
                        </a:defRPr>
                      </a:pPr>
                      <a:r>
                        <a:t>323</a:t>
                      </a:r>
                    </a:p>
                  </a:txBody>
                  <a:tcPr/>
                </a:tc>
              </a:tr>
              <a:tr h="257175">
                <a:tc>
                  <a:txBody>
                    <a:bodyPr/>
                    <a:lstStyle/>
                    <a:p>
                      <a:pPr>
                        <a:defRPr sz="700">
                          <a:solidFill>
                            <a:srgbClr val="1A1A2E"/>
                          </a:solidFill>
                        </a:defRPr>
                      </a:pPr>
                      <a:r>
                        <a:t>Ekspozitura Shterpce</a:t>
                      </a:r>
                    </a:p>
                  </a:txBody>
                  <a:tcPr/>
                </a:tc>
                <a:tc>
                  <a:txBody>
                    <a:bodyPr/>
                    <a:lstStyle/>
                    <a:p>
                      <a:pPr>
                        <a:defRPr sz="700">
                          <a:solidFill>
                            <a:srgbClr val="1A1A2E"/>
                          </a:solidFill>
                        </a:defRPr>
                      </a:pPr>
                      <a:r>
                        <a:t>Shterpce</a:t>
                      </a:r>
                    </a:p>
                  </a:txBody>
                  <a:tcPr/>
                </a:tc>
                <a:tc>
                  <a:txBody>
                    <a:bodyPr/>
                    <a:lstStyle/>
                    <a:p>
                      <a:pPr>
                        <a:defRPr sz="700">
                          <a:solidFill>
                            <a:srgbClr val="1A1A2E"/>
                          </a:solidFill>
                        </a:defRPr>
                      </a:pPr>
                      <a:r>
                        <a:t>6.0%</a:t>
                      </a:r>
                    </a:p>
                  </a:txBody>
                  <a:tcPr/>
                </a:tc>
                <a:tc>
                  <a:txBody>
                    <a:bodyPr/>
                    <a:lstStyle/>
                    <a:p>
                      <a:pPr>
                        <a:defRPr sz="700">
                          <a:solidFill>
                            <a:srgbClr val="1A1A2E"/>
                          </a:solidFill>
                        </a:defRPr>
                      </a:pPr>
                      <a:r>
                        <a:t>2,958</a:t>
                      </a:r>
                    </a:p>
                  </a:txBody>
                  <a:tcPr/>
                </a:tc>
                <a:tc>
                  <a:txBody>
                    <a:bodyPr/>
                    <a:lstStyle/>
                    <a:p>
                      <a:pPr>
                        <a:defRPr sz="700">
                          <a:solidFill>
                            <a:srgbClr val="1A1A2E"/>
                          </a:solidFill>
                        </a:defRPr>
                      </a:pPr>
                      <a:r>
                        <a:t>177</a:t>
                      </a:r>
                    </a:p>
                  </a:txBody>
                  <a:tcPr/>
                </a:tc>
              </a:tr>
              <a:tr h="257175">
                <a:tc>
                  <a:txBody>
                    <a:bodyPr/>
                    <a:lstStyle/>
                    <a:p>
                      <a:pPr>
                        <a:defRPr sz="700">
                          <a:solidFill>
                            <a:srgbClr val="1A1A2E"/>
                          </a:solidFill>
                        </a:defRPr>
                      </a:pPr>
                      <a:r>
                        <a:t>Filiali Gjilan</a:t>
                      </a:r>
                    </a:p>
                  </a:txBody>
                  <a:tcPr/>
                </a:tc>
                <a:tc>
                  <a:txBody>
                    <a:bodyPr/>
                    <a:lstStyle/>
                    <a:p>
                      <a:pPr>
                        <a:defRPr sz="700">
                          <a:solidFill>
                            <a:srgbClr val="1A1A2E"/>
                          </a:solidFill>
                        </a:defRPr>
                      </a:pPr>
                      <a:r>
                        <a:t>Gjilan</a:t>
                      </a:r>
                    </a:p>
                  </a:txBody>
                  <a:tcPr/>
                </a:tc>
                <a:tc>
                  <a:txBody>
                    <a:bodyPr/>
                    <a:lstStyle/>
                    <a:p>
                      <a:pPr>
                        <a:defRPr sz="700">
                          <a:solidFill>
                            <a:srgbClr val="1A1A2E"/>
                          </a:solidFill>
                        </a:defRPr>
                      </a:pPr>
                      <a:r>
                        <a:t>6.0%</a:t>
                      </a:r>
                    </a:p>
                  </a:txBody>
                  <a:tcPr/>
                </a:tc>
                <a:tc>
                  <a:txBody>
                    <a:bodyPr/>
                    <a:lstStyle/>
                    <a:p>
                      <a:pPr>
                        <a:defRPr sz="700">
                          <a:solidFill>
                            <a:srgbClr val="1A1A2E"/>
                          </a:solidFill>
                        </a:defRPr>
                      </a:pPr>
                      <a:r>
                        <a:t>11,544</a:t>
                      </a:r>
                    </a:p>
                  </a:txBody>
                  <a:tcPr/>
                </a:tc>
                <a:tc>
                  <a:txBody>
                    <a:bodyPr/>
                    <a:lstStyle/>
                    <a:p>
                      <a:pPr>
                        <a:defRPr sz="700">
                          <a:solidFill>
                            <a:srgbClr val="1A1A2E"/>
                          </a:solidFill>
                        </a:defRPr>
                      </a:pPr>
                      <a:r>
                        <a:t>690</a:t>
                      </a:r>
                    </a:p>
                  </a:txBody>
                  <a:tcPr/>
                </a:tc>
              </a:tr>
              <a:tr h="257175">
                <a:tc>
                  <a:txBody>
                    <a:bodyPr/>
                    <a:lstStyle/>
                    <a:p>
                      <a:pPr>
                        <a:defRPr sz="700">
                          <a:solidFill>
                            <a:srgbClr val="1A1A2E"/>
                          </a:solidFill>
                        </a:defRPr>
                      </a:pPr>
                      <a:r>
                        <a:t>Filiali Peje</a:t>
                      </a:r>
                    </a:p>
                  </a:txBody>
                  <a:tcPr/>
                </a:tc>
                <a:tc>
                  <a:txBody>
                    <a:bodyPr/>
                    <a:lstStyle/>
                    <a:p>
                      <a:pPr>
                        <a:defRPr sz="700">
                          <a:solidFill>
                            <a:srgbClr val="1A1A2E"/>
                          </a:solidFill>
                        </a:defRPr>
                      </a:pPr>
                      <a:r>
                        <a:t>Peje</a:t>
                      </a:r>
                    </a:p>
                  </a:txBody>
                  <a:tcPr/>
                </a:tc>
                <a:tc>
                  <a:txBody>
                    <a:bodyPr/>
                    <a:lstStyle/>
                    <a:p>
                      <a:pPr>
                        <a:defRPr sz="700">
                          <a:solidFill>
                            <a:srgbClr val="1A1A2E"/>
                          </a:solidFill>
                        </a:defRPr>
                      </a:pPr>
                      <a:r>
                        <a:t>6.0%</a:t>
                      </a:r>
                    </a:p>
                  </a:txBody>
                  <a:tcPr/>
                </a:tc>
                <a:tc>
                  <a:txBody>
                    <a:bodyPr/>
                    <a:lstStyle/>
                    <a:p>
                      <a:pPr>
                        <a:defRPr sz="700">
                          <a:solidFill>
                            <a:srgbClr val="1A1A2E"/>
                          </a:solidFill>
                        </a:defRPr>
                      </a:pPr>
                      <a:r>
                        <a:t>15,022</a:t>
                      </a:r>
                    </a:p>
                  </a:txBody>
                  <a:tcPr/>
                </a:tc>
                <a:tc>
                  <a:txBody>
                    <a:bodyPr/>
                    <a:lstStyle/>
                    <a:p>
                      <a:pPr>
                        <a:defRPr sz="700">
                          <a:solidFill>
                            <a:srgbClr val="1A1A2E"/>
                          </a:solidFill>
                        </a:defRPr>
                      </a:pPr>
                      <a:r>
                        <a:t>897</a:t>
                      </a:r>
                    </a:p>
                  </a:txBody>
                  <a:tcPr/>
                </a:tc>
              </a:tr>
              <a:tr h="257175">
                <a:tc>
                  <a:txBody>
                    <a:bodyPr/>
                    <a:lstStyle/>
                    <a:p>
                      <a:pPr>
                        <a:defRPr sz="700">
                          <a:solidFill>
                            <a:srgbClr val="1A1A2E"/>
                          </a:solidFill>
                        </a:defRPr>
                      </a:pPr>
                      <a:r>
                        <a:t>Filiali Ferizaj</a:t>
                      </a:r>
                    </a:p>
                  </a:txBody>
                  <a:tcPr/>
                </a:tc>
                <a:tc>
                  <a:txBody>
                    <a:bodyPr/>
                    <a:lstStyle/>
                    <a:p>
                      <a:pPr>
                        <a:defRPr sz="700">
                          <a:solidFill>
                            <a:srgbClr val="1A1A2E"/>
                          </a:solidFill>
                        </a:defRPr>
                      </a:pPr>
                      <a:r>
                        <a:t>Ferizaj</a:t>
                      </a:r>
                    </a:p>
                  </a:txBody>
                  <a:tcPr/>
                </a:tc>
                <a:tc>
                  <a:txBody>
                    <a:bodyPr/>
                    <a:lstStyle/>
                    <a:p>
                      <a:pPr>
                        <a:defRPr sz="700">
                          <a:solidFill>
                            <a:srgbClr val="1A1A2E"/>
                          </a:solidFill>
                        </a:defRPr>
                      </a:pPr>
                      <a:r>
                        <a:t>5.8%</a:t>
                      </a:r>
                    </a:p>
                  </a:txBody>
                  <a:tcPr/>
                </a:tc>
                <a:tc>
                  <a:txBody>
                    <a:bodyPr/>
                    <a:lstStyle/>
                    <a:p>
                      <a:pPr>
                        <a:defRPr sz="700">
                          <a:solidFill>
                            <a:srgbClr val="1A1A2E"/>
                          </a:solidFill>
                        </a:defRPr>
                      </a:pPr>
                      <a:r>
                        <a:t>13,557</a:t>
                      </a:r>
                    </a:p>
                  </a:txBody>
                  <a:tcPr/>
                </a:tc>
                <a:tc>
                  <a:txBody>
                    <a:bodyPr/>
                    <a:lstStyle/>
                    <a:p>
                      <a:pPr>
                        <a:defRPr sz="700">
                          <a:solidFill>
                            <a:srgbClr val="1A1A2E"/>
                          </a:solidFill>
                        </a:defRPr>
                      </a:pPr>
                      <a:r>
                        <a:t>783</a:t>
                      </a:r>
                    </a:p>
                  </a:txBody>
                  <a:tcPr/>
                </a:tc>
              </a:tr>
              <a:tr h="257175">
                <a:tc>
                  <a:txBody>
                    <a:bodyPr/>
                    <a:lstStyle/>
                    <a:p>
                      <a:pPr>
                        <a:defRPr sz="700">
                          <a:solidFill>
                            <a:srgbClr val="1A1A2E"/>
                          </a:solidFill>
                        </a:defRPr>
                      </a:pPr>
                      <a:r>
                        <a:t>Ekspozitura Lipjan</a:t>
                      </a:r>
                    </a:p>
                  </a:txBody>
                  <a:tcPr/>
                </a:tc>
                <a:tc>
                  <a:txBody>
                    <a:bodyPr/>
                    <a:lstStyle/>
                    <a:p>
                      <a:pPr>
                        <a:defRPr sz="700">
                          <a:solidFill>
                            <a:srgbClr val="1A1A2E"/>
                          </a:solidFill>
                        </a:defRPr>
                      </a:pPr>
                      <a:r>
                        <a:t>Lipjan</a:t>
                      </a:r>
                    </a:p>
                  </a:txBody>
                  <a:tcPr/>
                </a:tc>
                <a:tc>
                  <a:txBody>
                    <a:bodyPr/>
                    <a:lstStyle/>
                    <a:p>
                      <a:pPr>
                        <a:defRPr sz="700">
                          <a:solidFill>
                            <a:srgbClr val="1A1A2E"/>
                          </a:solidFill>
                        </a:defRPr>
                      </a:pPr>
                      <a:r>
                        <a:t>5.7%</a:t>
                      </a:r>
                    </a:p>
                  </a:txBody>
                  <a:tcPr/>
                </a:tc>
                <a:tc>
                  <a:txBody>
                    <a:bodyPr/>
                    <a:lstStyle/>
                    <a:p>
                      <a:pPr>
                        <a:defRPr sz="700">
                          <a:solidFill>
                            <a:srgbClr val="1A1A2E"/>
                          </a:solidFill>
                        </a:defRPr>
                      </a:pPr>
                      <a:r>
                        <a:t>5,918</a:t>
                      </a:r>
                    </a:p>
                  </a:txBody>
                  <a:tcPr/>
                </a:tc>
                <a:tc>
                  <a:txBody>
                    <a:bodyPr/>
                    <a:lstStyle/>
                    <a:p>
                      <a:pPr>
                        <a:defRPr sz="700">
                          <a:solidFill>
                            <a:srgbClr val="1A1A2E"/>
                          </a:solidFill>
                        </a:defRPr>
                      </a:pPr>
                      <a:r>
                        <a:t>340</a:t>
                      </a:r>
                    </a:p>
                  </a:txBody>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144000" cy="365760"/>
          </a:xfrm>
          <a:prstGeom prst="rect">
            <a:avLst/>
          </a:prstGeom>
          <a:noFill/>
        </p:spPr>
        <p:txBody>
          <a:bodyPr wrap="square">
            <a:spAutoFit/>
          </a:bodyPr>
          <a:lstStyle/>
          <a:p>
            <a:pPr algn="l">
              <a:defRPr sz="2000" b="1">
                <a:solidFill>
                  <a:srgbClr val="FFFFFF"/>
                </a:solidFill>
              </a:defRPr>
            </a:pPr>
            <a:r>
              <a:t>DEPOSIT FUNDING MIX — COST STRUCTURE BY BRANCH</a:t>
            </a:r>
          </a:p>
        </p:txBody>
      </p:sp>
      <p:sp>
        <p:nvSpPr>
          <p:cNvPr id="4" name="TextBox 3"/>
          <p:cNvSpPr txBox="1"/>
          <p:nvPr/>
        </p:nvSpPr>
        <p:spPr>
          <a:xfrm>
            <a:off x="457200" y="475488"/>
            <a:ext cx="9144000" cy="274320"/>
          </a:xfrm>
          <a:prstGeom prst="rect">
            <a:avLst/>
          </a:prstGeom>
          <a:noFill/>
        </p:spPr>
        <p:txBody>
          <a:bodyPr wrap="square">
            <a:spAutoFit/>
          </a:bodyPr>
          <a:lstStyle/>
          <a:p>
            <a:pPr algn="l">
              <a:defRPr sz="1000" b="0">
                <a:solidFill>
                  <a:srgbClr val="A0BCD8"/>
                </a:solidFill>
              </a:defRPr>
            </a:pPr>
            <a:r>
              <a:t>CA (low-cost) vs TDA (high-cost) vs Savings | Where to moderate TDA</a:t>
            </a:r>
          </a:p>
        </p:txBody>
      </p:sp>
      <p:sp>
        <p:nvSpPr>
          <p:cNvPr id="5" name="Rectangle 4"/>
          <p:cNvSpPr/>
          <p:nvPr/>
        </p:nvSpPr>
        <p:spPr>
          <a:xfrm>
            <a:off x="365760" y="1005840"/>
            <a:ext cx="11430000" cy="594360"/>
          </a:xfrm>
          <a:prstGeom prst="rect">
            <a:avLst/>
          </a:prstGeom>
          <a:solidFill>
            <a:srgbClr val="F0F4F8"/>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000" b="1">
                <a:solidFill>
                  <a:srgbClr val="002B49"/>
                </a:solidFill>
              </a:rPr>
              <a:t>SO WHAT:  </a:t>
            </a:r>
            <a:r>
              <a:rPr sz="900">
                <a:solidFill>
                  <a:srgbClr val="1A1A2E"/>
                </a:solidFill>
              </a:rPr>
              <a:t>Three branches exceed 50% TDA share: Prizren 2 (56.8%), Gjakove (54.4%), Fushe Kosove (50.0%). At the other end, Shterpce (73.9% CA), Lipjan (70.6%), Skenderaj (69.1%) demonstrate that low-cost funding dominance is achievable. No rate data is available — cost logic is structural (TDA &gt; SA &gt; CA). Management should set CA/salary acquisition targets for TDA-heavy branches and stop incentivizing TDA growth where it harms economics.</a:t>
            </a:r>
          </a:p>
        </p:txBody>
      </p:sp>
      <p:sp>
        <p:nvSpPr>
          <p:cNvPr id="6" name="TextBox 5"/>
          <p:cNvSpPr txBox="1"/>
          <p:nvPr/>
        </p:nvSpPr>
        <p:spPr>
          <a:xfrm>
            <a:off x="365760" y="1783080"/>
            <a:ext cx="5486400" cy="228600"/>
          </a:xfrm>
          <a:prstGeom prst="rect">
            <a:avLst/>
          </a:prstGeom>
          <a:noFill/>
        </p:spPr>
        <p:txBody>
          <a:bodyPr wrap="square">
            <a:spAutoFit/>
          </a:bodyPr>
          <a:lstStyle/>
          <a:p>
            <a:pPr algn="l">
              <a:defRPr sz="1000" b="1">
                <a:solidFill>
                  <a:srgbClr val="DC2626"/>
                </a:solidFill>
              </a:defRPr>
            </a:pPr>
            <a:r>
              <a:t>TDA-HEAVY BRANCHES — MODERATE TERM DEPOSIT GROWTH</a:t>
            </a:r>
          </a:p>
        </p:txBody>
      </p:sp>
      <p:graphicFrame>
        <p:nvGraphicFramePr>
          <p:cNvPr id="7" name="Table 6"/>
          <p:cNvGraphicFramePr>
            <a:graphicFrameLocks noGrp="1"/>
          </p:cNvGraphicFramePr>
          <p:nvPr/>
        </p:nvGraphicFramePr>
        <p:xfrm>
          <a:off x="365760" y="2057400"/>
          <a:ext cx="5486400" cy="3200400"/>
        </p:xfrm>
        <a:graphic>
          <a:graphicData uri="http://schemas.openxmlformats.org/drawingml/2006/table">
            <a:tbl>
              <a:tblPr firstRow="1" bandRow="1">
                <a:tableStyleId>{5C22544A-7EE6-4342-B048-85BDC9FD1C3A}</a:tableStyleId>
              </a:tblPr>
              <a:tblGrid>
                <a:gridCol w="2103120"/>
                <a:gridCol w="822960"/>
                <a:gridCol w="731520"/>
                <a:gridCol w="731520"/>
                <a:gridCol w="1097280"/>
              </a:tblGrid>
              <a:tr h="290945">
                <a:tc>
                  <a:txBody>
                    <a:bodyPr/>
                    <a:lstStyle/>
                    <a:p>
                      <a:pPr>
                        <a:defRPr sz="800" b="1">
                          <a:solidFill>
                            <a:srgbClr val="FFFFFF"/>
                          </a:solidFill>
                        </a:defRPr>
                      </a:pPr>
                      <a:r>
                        <a:t>Branch</a:t>
                      </a:r>
                    </a:p>
                  </a:txBody>
                  <a:tcPr>
                    <a:solidFill>
                      <a:srgbClr val="002B49"/>
                    </a:solidFill>
                  </a:tcPr>
                </a:tc>
                <a:tc>
                  <a:txBody>
                    <a:bodyPr/>
                    <a:lstStyle/>
                    <a:p>
                      <a:pPr>
                        <a:defRPr sz="800" b="1">
                          <a:solidFill>
                            <a:srgbClr val="FFFFFF"/>
                          </a:solidFill>
                        </a:defRPr>
                      </a:pPr>
                      <a:r>
                        <a:t>TDA%</a:t>
                      </a:r>
                    </a:p>
                  </a:txBody>
                  <a:tcPr>
                    <a:solidFill>
                      <a:srgbClr val="002B49"/>
                    </a:solidFill>
                  </a:tcPr>
                </a:tc>
                <a:tc>
                  <a:txBody>
                    <a:bodyPr/>
                    <a:lstStyle/>
                    <a:p>
                      <a:pPr>
                        <a:defRPr sz="800" b="1">
                          <a:solidFill>
                            <a:srgbClr val="FFFFFF"/>
                          </a:solidFill>
                        </a:defRPr>
                      </a:pPr>
                      <a:r>
                        <a:t>CA%</a:t>
                      </a:r>
                    </a:p>
                  </a:txBody>
                  <a:tcPr>
                    <a:solidFill>
                      <a:srgbClr val="002B49"/>
                    </a:solidFill>
                  </a:tcPr>
                </a:tc>
                <a:tc>
                  <a:txBody>
                    <a:bodyPr/>
                    <a:lstStyle/>
                    <a:p>
                      <a:pPr>
                        <a:defRPr sz="800" b="1">
                          <a:solidFill>
                            <a:srgbClr val="FFFFFF"/>
                          </a:solidFill>
                        </a:defRPr>
                      </a:pPr>
                      <a:r>
                        <a:t>SA%</a:t>
                      </a:r>
                    </a:p>
                  </a:txBody>
                  <a:tcPr>
                    <a:solidFill>
                      <a:srgbClr val="002B49"/>
                    </a:solidFill>
                  </a:tcPr>
                </a:tc>
                <a:tc>
                  <a:txBody>
                    <a:bodyPr/>
                    <a:lstStyle/>
                    <a:p>
                      <a:pPr>
                        <a:defRPr sz="800" b="1">
                          <a:solidFill>
                            <a:srgbClr val="FFFFFF"/>
                          </a:solidFill>
                        </a:defRPr>
                      </a:pPr>
                      <a:r>
                        <a:t>Action</a:t>
                      </a:r>
                    </a:p>
                  </a:txBody>
                  <a:tcPr>
                    <a:solidFill>
                      <a:srgbClr val="002B49"/>
                    </a:solidFill>
                  </a:tcPr>
                </a:tc>
              </a:tr>
              <a:tr h="290945">
                <a:tc>
                  <a:txBody>
                    <a:bodyPr/>
                    <a:lstStyle/>
                    <a:p>
                      <a:pPr>
                        <a:defRPr sz="700">
                          <a:solidFill>
                            <a:srgbClr val="1A1A2E"/>
                          </a:solidFill>
                        </a:defRPr>
                      </a:pPr>
                      <a:r>
                        <a:t>Ekspozitura Prizren 2</a:t>
                      </a:r>
                    </a:p>
                  </a:txBody>
                  <a:tcPr/>
                </a:tc>
                <a:tc>
                  <a:txBody>
                    <a:bodyPr/>
                    <a:lstStyle/>
                    <a:p>
                      <a:pPr>
                        <a:defRPr sz="700">
                          <a:solidFill>
                            <a:srgbClr val="DC2626"/>
                          </a:solidFill>
                        </a:defRPr>
                      </a:pPr>
                      <a:r>
                        <a:t>56.8%</a:t>
                      </a:r>
                    </a:p>
                  </a:txBody>
                  <a:tcPr/>
                </a:tc>
                <a:tc>
                  <a:txBody>
                    <a:bodyPr/>
                    <a:lstStyle/>
                    <a:p>
                      <a:pPr>
                        <a:defRPr sz="700">
                          <a:solidFill>
                            <a:srgbClr val="1A1A2E"/>
                          </a:solidFill>
                        </a:defRPr>
                      </a:pPr>
                      <a:r>
                        <a:t>40.6%</a:t>
                      </a:r>
                    </a:p>
                  </a:txBody>
                  <a:tcPr/>
                </a:tc>
                <a:tc>
                  <a:txBody>
                    <a:bodyPr/>
                    <a:lstStyle/>
                    <a:p>
                      <a:pPr>
                        <a:defRPr sz="700">
                          <a:solidFill>
                            <a:srgbClr val="1A1A2E"/>
                          </a:solidFill>
                        </a:defRPr>
                      </a:pPr>
                      <a:r>
                        <a:t>2.6%</a:t>
                      </a:r>
                    </a:p>
                  </a:txBody>
                  <a:tcPr/>
                </a:tc>
                <a:tc>
                  <a:txBody>
                    <a:bodyPr/>
                    <a:lstStyle/>
                    <a:p>
                      <a:pPr>
                        <a:defRPr sz="700" b="1">
                          <a:solidFill>
                            <a:srgbClr val="DC2626"/>
                          </a:solidFill>
                        </a:defRPr>
                      </a:pPr>
                      <a:r>
                        <a:t>MODERATE TDA</a:t>
                      </a:r>
                    </a:p>
                  </a:txBody>
                  <a:tcPr/>
                </a:tc>
              </a:tr>
              <a:tr h="290945">
                <a:tc>
                  <a:txBody>
                    <a:bodyPr/>
                    <a:lstStyle/>
                    <a:p>
                      <a:pPr>
                        <a:defRPr sz="700">
                          <a:solidFill>
                            <a:srgbClr val="1A1A2E"/>
                          </a:solidFill>
                        </a:defRPr>
                      </a:pPr>
                      <a:r>
                        <a:t>Filiali Gjakove</a:t>
                      </a:r>
                    </a:p>
                  </a:txBody>
                  <a:tcPr/>
                </a:tc>
                <a:tc>
                  <a:txBody>
                    <a:bodyPr/>
                    <a:lstStyle/>
                    <a:p>
                      <a:pPr>
                        <a:defRPr sz="700">
                          <a:solidFill>
                            <a:srgbClr val="DC2626"/>
                          </a:solidFill>
                        </a:defRPr>
                      </a:pPr>
                      <a:r>
                        <a:t>54.4%</a:t>
                      </a:r>
                    </a:p>
                  </a:txBody>
                  <a:tcPr/>
                </a:tc>
                <a:tc>
                  <a:txBody>
                    <a:bodyPr/>
                    <a:lstStyle/>
                    <a:p>
                      <a:pPr>
                        <a:defRPr sz="700">
                          <a:solidFill>
                            <a:srgbClr val="1A1A2E"/>
                          </a:solidFill>
                        </a:defRPr>
                      </a:pPr>
                      <a:r>
                        <a:t>42.8%</a:t>
                      </a:r>
                    </a:p>
                  </a:txBody>
                  <a:tcPr/>
                </a:tc>
                <a:tc>
                  <a:txBody>
                    <a:bodyPr/>
                    <a:lstStyle/>
                    <a:p>
                      <a:pPr>
                        <a:defRPr sz="700">
                          <a:solidFill>
                            <a:srgbClr val="1A1A2E"/>
                          </a:solidFill>
                        </a:defRPr>
                      </a:pPr>
                      <a:r>
                        <a:t>2.8%</a:t>
                      </a:r>
                    </a:p>
                  </a:txBody>
                  <a:tcPr/>
                </a:tc>
                <a:tc>
                  <a:txBody>
                    <a:bodyPr/>
                    <a:lstStyle/>
                    <a:p>
                      <a:pPr>
                        <a:defRPr sz="700" b="1">
                          <a:solidFill>
                            <a:srgbClr val="DC2626"/>
                          </a:solidFill>
                        </a:defRPr>
                      </a:pPr>
                      <a:r>
                        <a:t>MODERATE TDA</a:t>
                      </a:r>
                    </a:p>
                  </a:txBody>
                  <a:tcPr/>
                </a:tc>
              </a:tr>
              <a:tr h="290945">
                <a:tc>
                  <a:txBody>
                    <a:bodyPr/>
                    <a:lstStyle/>
                    <a:p>
                      <a:pPr>
                        <a:defRPr sz="700">
                          <a:solidFill>
                            <a:srgbClr val="1A1A2E"/>
                          </a:solidFill>
                        </a:defRPr>
                      </a:pPr>
                      <a:r>
                        <a:t>Ekspozitura Fushe Kosove</a:t>
                      </a:r>
                    </a:p>
                  </a:txBody>
                  <a:tcPr/>
                </a:tc>
                <a:tc>
                  <a:txBody>
                    <a:bodyPr/>
                    <a:lstStyle/>
                    <a:p>
                      <a:pPr>
                        <a:defRPr sz="700">
                          <a:solidFill>
                            <a:srgbClr val="DC2626"/>
                          </a:solidFill>
                        </a:defRPr>
                      </a:pPr>
                      <a:r>
                        <a:t>50.0%</a:t>
                      </a:r>
                    </a:p>
                  </a:txBody>
                  <a:tcPr/>
                </a:tc>
                <a:tc>
                  <a:txBody>
                    <a:bodyPr/>
                    <a:lstStyle/>
                    <a:p>
                      <a:pPr>
                        <a:defRPr sz="700">
                          <a:solidFill>
                            <a:srgbClr val="1A1A2E"/>
                          </a:solidFill>
                        </a:defRPr>
                      </a:pPr>
                      <a:r>
                        <a:t>46.4%</a:t>
                      </a:r>
                    </a:p>
                  </a:txBody>
                  <a:tcPr/>
                </a:tc>
                <a:tc>
                  <a:txBody>
                    <a:bodyPr/>
                    <a:lstStyle/>
                    <a:p>
                      <a:pPr>
                        <a:defRPr sz="700">
                          <a:solidFill>
                            <a:srgbClr val="1A1A2E"/>
                          </a:solidFill>
                        </a:defRPr>
                      </a:pPr>
                      <a:r>
                        <a:t>3.6%</a:t>
                      </a:r>
                    </a:p>
                  </a:txBody>
                  <a:tcPr/>
                </a:tc>
                <a:tc>
                  <a:txBody>
                    <a:bodyPr/>
                    <a:lstStyle/>
                    <a:p>
                      <a:pPr>
                        <a:defRPr sz="700" b="1">
                          <a:solidFill>
                            <a:srgbClr val="DC2626"/>
                          </a:solidFill>
                        </a:defRPr>
                      </a:pPr>
                      <a:r>
                        <a:t>MODERATE TDA</a:t>
                      </a:r>
                    </a:p>
                  </a:txBody>
                  <a:tcPr/>
                </a:tc>
              </a:tr>
              <a:tr h="290945">
                <a:tc>
                  <a:txBody>
                    <a:bodyPr/>
                    <a:lstStyle/>
                    <a:p>
                      <a:pPr>
                        <a:defRPr sz="700">
                          <a:solidFill>
                            <a:srgbClr val="1A1A2E"/>
                          </a:solidFill>
                        </a:defRPr>
                      </a:pPr>
                      <a:r>
                        <a:t>Filiali Peje</a:t>
                      </a:r>
                    </a:p>
                  </a:txBody>
                  <a:tcPr/>
                </a:tc>
                <a:tc>
                  <a:txBody>
                    <a:bodyPr/>
                    <a:lstStyle/>
                    <a:p>
                      <a:pPr>
                        <a:defRPr sz="700">
                          <a:solidFill>
                            <a:srgbClr val="1A1A2E"/>
                          </a:solidFill>
                        </a:defRPr>
                      </a:pPr>
                      <a:r>
                        <a:t>48.2%</a:t>
                      </a:r>
                    </a:p>
                  </a:txBody>
                  <a:tcPr/>
                </a:tc>
                <a:tc>
                  <a:txBody>
                    <a:bodyPr/>
                    <a:lstStyle/>
                    <a:p>
                      <a:pPr>
                        <a:defRPr sz="700">
                          <a:solidFill>
                            <a:srgbClr val="1A1A2E"/>
                          </a:solidFill>
                        </a:defRPr>
                      </a:pPr>
                      <a:r>
                        <a:t>47.4%</a:t>
                      </a:r>
                    </a:p>
                  </a:txBody>
                  <a:tcPr/>
                </a:tc>
                <a:tc>
                  <a:txBody>
                    <a:bodyPr/>
                    <a:lstStyle/>
                    <a:p>
                      <a:pPr>
                        <a:defRPr sz="700">
                          <a:solidFill>
                            <a:srgbClr val="1A1A2E"/>
                          </a:solidFill>
                        </a:defRPr>
                      </a:pPr>
                      <a:r>
                        <a:t>4.4%</a:t>
                      </a:r>
                    </a:p>
                  </a:txBody>
                  <a:tcPr/>
                </a:tc>
                <a:tc>
                  <a:txBody>
                    <a:bodyPr/>
                    <a:lstStyle/>
                    <a:p>
                      <a:pPr>
                        <a:defRPr sz="700" b="1">
                          <a:solidFill>
                            <a:srgbClr val="D97706"/>
                          </a:solidFill>
                        </a:defRPr>
                      </a:pPr>
                      <a:r>
                        <a:t>MONITOR</a:t>
                      </a:r>
                    </a:p>
                  </a:txBody>
                  <a:tcPr/>
                </a:tc>
              </a:tr>
              <a:tr h="290945">
                <a:tc>
                  <a:txBody>
                    <a:bodyPr/>
                    <a:lstStyle/>
                    <a:p>
                      <a:pPr>
                        <a:defRPr sz="700">
                          <a:solidFill>
                            <a:srgbClr val="1A1A2E"/>
                          </a:solidFill>
                        </a:defRPr>
                      </a:pPr>
                      <a:r>
                        <a:t>Ekspozitura Gracanice</a:t>
                      </a:r>
                    </a:p>
                  </a:txBody>
                  <a:tcPr/>
                </a:tc>
                <a:tc>
                  <a:txBody>
                    <a:bodyPr/>
                    <a:lstStyle/>
                    <a:p>
                      <a:pPr>
                        <a:defRPr sz="700">
                          <a:solidFill>
                            <a:srgbClr val="1A1A2E"/>
                          </a:solidFill>
                        </a:defRPr>
                      </a:pPr>
                      <a:r>
                        <a:t>45.6%</a:t>
                      </a:r>
                    </a:p>
                  </a:txBody>
                  <a:tcPr/>
                </a:tc>
                <a:tc>
                  <a:txBody>
                    <a:bodyPr/>
                    <a:lstStyle/>
                    <a:p>
                      <a:pPr>
                        <a:defRPr sz="700">
                          <a:solidFill>
                            <a:srgbClr val="1A1A2E"/>
                          </a:solidFill>
                        </a:defRPr>
                      </a:pPr>
                      <a:r>
                        <a:t>51.5%</a:t>
                      </a:r>
                    </a:p>
                  </a:txBody>
                  <a:tcPr/>
                </a:tc>
                <a:tc>
                  <a:txBody>
                    <a:bodyPr/>
                    <a:lstStyle/>
                    <a:p>
                      <a:pPr>
                        <a:defRPr sz="700">
                          <a:solidFill>
                            <a:srgbClr val="1A1A2E"/>
                          </a:solidFill>
                        </a:defRPr>
                      </a:pPr>
                      <a:r>
                        <a:t>2.8%</a:t>
                      </a:r>
                    </a:p>
                  </a:txBody>
                  <a:tcPr/>
                </a:tc>
                <a:tc>
                  <a:txBody>
                    <a:bodyPr/>
                    <a:lstStyle/>
                    <a:p>
                      <a:pPr>
                        <a:defRPr sz="700" b="1">
                          <a:solidFill>
                            <a:srgbClr val="D97706"/>
                          </a:solidFill>
                        </a:defRPr>
                      </a:pPr>
                      <a:r>
                        <a:t>MONITOR</a:t>
                      </a:r>
                    </a:p>
                  </a:txBody>
                  <a:tcPr/>
                </a:tc>
              </a:tr>
              <a:tr h="290945">
                <a:tc>
                  <a:txBody>
                    <a:bodyPr/>
                    <a:lstStyle/>
                    <a:p>
                      <a:pPr>
                        <a:defRPr sz="700">
                          <a:solidFill>
                            <a:srgbClr val="1A1A2E"/>
                          </a:solidFill>
                        </a:defRPr>
                      </a:pPr>
                      <a:r>
                        <a:t>Ekspozitura Decan</a:t>
                      </a:r>
                    </a:p>
                  </a:txBody>
                  <a:tcPr/>
                </a:tc>
                <a:tc>
                  <a:txBody>
                    <a:bodyPr/>
                    <a:lstStyle/>
                    <a:p>
                      <a:pPr>
                        <a:defRPr sz="700">
                          <a:solidFill>
                            <a:srgbClr val="1A1A2E"/>
                          </a:solidFill>
                        </a:defRPr>
                      </a:pPr>
                      <a:r>
                        <a:t>45.1%</a:t>
                      </a:r>
                    </a:p>
                  </a:txBody>
                  <a:tcPr/>
                </a:tc>
                <a:tc>
                  <a:txBody>
                    <a:bodyPr/>
                    <a:lstStyle/>
                    <a:p>
                      <a:pPr>
                        <a:defRPr sz="700">
                          <a:solidFill>
                            <a:srgbClr val="1A1A2E"/>
                          </a:solidFill>
                        </a:defRPr>
                      </a:pPr>
                      <a:r>
                        <a:t>50.4%</a:t>
                      </a:r>
                    </a:p>
                  </a:txBody>
                  <a:tcPr/>
                </a:tc>
                <a:tc>
                  <a:txBody>
                    <a:bodyPr/>
                    <a:lstStyle/>
                    <a:p>
                      <a:pPr>
                        <a:defRPr sz="700">
                          <a:solidFill>
                            <a:srgbClr val="1A1A2E"/>
                          </a:solidFill>
                        </a:defRPr>
                      </a:pPr>
                      <a:r>
                        <a:t>4.5%</a:t>
                      </a:r>
                    </a:p>
                  </a:txBody>
                  <a:tcPr/>
                </a:tc>
                <a:tc>
                  <a:txBody>
                    <a:bodyPr/>
                    <a:lstStyle/>
                    <a:p>
                      <a:pPr>
                        <a:defRPr sz="700" b="1">
                          <a:solidFill>
                            <a:srgbClr val="D97706"/>
                          </a:solidFill>
                        </a:defRPr>
                      </a:pPr>
                      <a:r>
                        <a:t>MONITOR</a:t>
                      </a:r>
                    </a:p>
                  </a:txBody>
                  <a:tcPr/>
                </a:tc>
              </a:tr>
              <a:tr h="290945">
                <a:tc>
                  <a:txBody>
                    <a:bodyPr/>
                    <a:lstStyle/>
                    <a:p>
                      <a:pPr>
                        <a:defRPr sz="700">
                          <a:solidFill>
                            <a:srgbClr val="1A1A2E"/>
                          </a:solidFill>
                        </a:defRPr>
                      </a:pPr>
                      <a:r>
                        <a:t>Ekspozitura Bregu i Diellit</a:t>
                      </a:r>
                    </a:p>
                  </a:txBody>
                  <a:tcPr/>
                </a:tc>
                <a:tc>
                  <a:txBody>
                    <a:bodyPr/>
                    <a:lstStyle/>
                    <a:p>
                      <a:pPr>
                        <a:defRPr sz="700">
                          <a:solidFill>
                            <a:srgbClr val="1A1A2E"/>
                          </a:solidFill>
                        </a:defRPr>
                      </a:pPr>
                      <a:r>
                        <a:t>44.9%</a:t>
                      </a:r>
                    </a:p>
                  </a:txBody>
                  <a:tcPr/>
                </a:tc>
                <a:tc>
                  <a:txBody>
                    <a:bodyPr/>
                    <a:lstStyle/>
                    <a:p>
                      <a:pPr>
                        <a:defRPr sz="700">
                          <a:solidFill>
                            <a:srgbClr val="1A1A2E"/>
                          </a:solidFill>
                        </a:defRPr>
                      </a:pPr>
                      <a:r>
                        <a:t>40.5%</a:t>
                      </a:r>
                    </a:p>
                  </a:txBody>
                  <a:tcPr/>
                </a:tc>
                <a:tc>
                  <a:txBody>
                    <a:bodyPr/>
                    <a:lstStyle/>
                    <a:p>
                      <a:pPr>
                        <a:defRPr sz="700">
                          <a:solidFill>
                            <a:srgbClr val="1A1A2E"/>
                          </a:solidFill>
                        </a:defRPr>
                      </a:pPr>
                      <a:r>
                        <a:t>14.6%</a:t>
                      </a:r>
                    </a:p>
                  </a:txBody>
                  <a:tcPr/>
                </a:tc>
                <a:tc>
                  <a:txBody>
                    <a:bodyPr/>
                    <a:lstStyle/>
                    <a:p>
                      <a:pPr>
                        <a:defRPr sz="700" b="1">
                          <a:solidFill>
                            <a:srgbClr val="D97706"/>
                          </a:solidFill>
                        </a:defRPr>
                      </a:pPr>
                      <a:r>
                        <a:t>MONITOR</a:t>
                      </a:r>
                    </a:p>
                  </a:txBody>
                  <a:tcPr/>
                </a:tc>
              </a:tr>
              <a:tr h="290945">
                <a:tc>
                  <a:txBody>
                    <a:bodyPr/>
                    <a:lstStyle/>
                    <a:p>
                      <a:pPr>
                        <a:defRPr sz="700">
                          <a:solidFill>
                            <a:srgbClr val="1A1A2E"/>
                          </a:solidFill>
                        </a:defRPr>
                      </a:pPr>
                      <a:r>
                        <a:t>Ekspozitura Kline</a:t>
                      </a:r>
                    </a:p>
                  </a:txBody>
                  <a:tcPr/>
                </a:tc>
                <a:tc>
                  <a:txBody>
                    <a:bodyPr/>
                    <a:lstStyle/>
                    <a:p>
                      <a:pPr>
                        <a:defRPr sz="700">
                          <a:solidFill>
                            <a:srgbClr val="1A1A2E"/>
                          </a:solidFill>
                        </a:defRPr>
                      </a:pPr>
                      <a:r>
                        <a:t>42.8%</a:t>
                      </a:r>
                    </a:p>
                  </a:txBody>
                  <a:tcPr/>
                </a:tc>
                <a:tc>
                  <a:txBody>
                    <a:bodyPr/>
                    <a:lstStyle/>
                    <a:p>
                      <a:pPr>
                        <a:defRPr sz="700">
                          <a:solidFill>
                            <a:srgbClr val="1A1A2E"/>
                          </a:solidFill>
                        </a:defRPr>
                      </a:pPr>
                      <a:r>
                        <a:t>54.4%</a:t>
                      </a:r>
                    </a:p>
                  </a:txBody>
                  <a:tcPr/>
                </a:tc>
                <a:tc>
                  <a:txBody>
                    <a:bodyPr/>
                    <a:lstStyle/>
                    <a:p>
                      <a:pPr>
                        <a:defRPr sz="700">
                          <a:solidFill>
                            <a:srgbClr val="1A1A2E"/>
                          </a:solidFill>
                        </a:defRPr>
                      </a:pPr>
                      <a:r>
                        <a:t>2.8%</a:t>
                      </a:r>
                    </a:p>
                  </a:txBody>
                  <a:tcPr/>
                </a:tc>
                <a:tc>
                  <a:txBody>
                    <a:bodyPr/>
                    <a:lstStyle/>
                    <a:p>
                      <a:pPr>
                        <a:defRPr sz="700" b="1">
                          <a:solidFill>
                            <a:srgbClr val="D97706"/>
                          </a:solidFill>
                        </a:defRPr>
                      </a:pPr>
                      <a:r>
                        <a:t>MONITOR</a:t>
                      </a:r>
                    </a:p>
                  </a:txBody>
                  <a:tcPr/>
                </a:tc>
              </a:tr>
              <a:tr h="290945">
                <a:tc>
                  <a:txBody>
                    <a:bodyPr/>
                    <a:lstStyle/>
                    <a:p>
                      <a:pPr>
                        <a:defRPr sz="700">
                          <a:solidFill>
                            <a:srgbClr val="1A1A2E"/>
                          </a:solidFill>
                        </a:defRPr>
                      </a:pPr>
                      <a:r>
                        <a:t>Ekspozitura Viti</a:t>
                      </a:r>
                    </a:p>
                  </a:txBody>
                  <a:tcPr/>
                </a:tc>
                <a:tc>
                  <a:txBody>
                    <a:bodyPr/>
                    <a:lstStyle/>
                    <a:p>
                      <a:pPr>
                        <a:defRPr sz="700">
                          <a:solidFill>
                            <a:srgbClr val="1A1A2E"/>
                          </a:solidFill>
                        </a:defRPr>
                      </a:pPr>
                      <a:r>
                        <a:t>42.1%</a:t>
                      </a:r>
                    </a:p>
                  </a:txBody>
                  <a:tcPr/>
                </a:tc>
                <a:tc>
                  <a:txBody>
                    <a:bodyPr/>
                    <a:lstStyle/>
                    <a:p>
                      <a:pPr>
                        <a:defRPr sz="700">
                          <a:solidFill>
                            <a:srgbClr val="1A1A2E"/>
                          </a:solidFill>
                        </a:defRPr>
                      </a:pPr>
                      <a:r>
                        <a:t>55.7%</a:t>
                      </a:r>
                    </a:p>
                  </a:txBody>
                  <a:tcPr/>
                </a:tc>
                <a:tc>
                  <a:txBody>
                    <a:bodyPr/>
                    <a:lstStyle/>
                    <a:p>
                      <a:pPr>
                        <a:defRPr sz="700">
                          <a:solidFill>
                            <a:srgbClr val="1A1A2E"/>
                          </a:solidFill>
                        </a:defRPr>
                      </a:pPr>
                      <a:r>
                        <a:t>2.2%</a:t>
                      </a:r>
                    </a:p>
                  </a:txBody>
                  <a:tcPr/>
                </a:tc>
                <a:tc>
                  <a:txBody>
                    <a:bodyPr/>
                    <a:lstStyle/>
                    <a:p>
                      <a:pPr>
                        <a:defRPr sz="700" b="1">
                          <a:solidFill>
                            <a:srgbClr val="D97706"/>
                          </a:solidFill>
                        </a:defRPr>
                      </a:pPr>
                      <a:r>
                        <a:t>MONITOR</a:t>
                      </a:r>
                    </a:p>
                  </a:txBody>
                  <a:tcPr/>
                </a:tc>
              </a:tr>
              <a:tr h="290950">
                <a:tc>
                  <a:txBody>
                    <a:bodyPr/>
                    <a:lstStyle/>
                    <a:p>
                      <a:pPr>
                        <a:defRPr sz="700">
                          <a:solidFill>
                            <a:srgbClr val="1A1A2E"/>
                          </a:solidFill>
                        </a:defRPr>
                      </a:pPr>
                      <a:r>
                        <a:t>Filiali 1001 Prishtine</a:t>
                      </a:r>
                    </a:p>
                  </a:txBody>
                  <a:tcPr/>
                </a:tc>
                <a:tc>
                  <a:txBody>
                    <a:bodyPr/>
                    <a:lstStyle/>
                    <a:p>
                      <a:pPr>
                        <a:defRPr sz="700">
                          <a:solidFill>
                            <a:srgbClr val="1A1A2E"/>
                          </a:solidFill>
                        </a:defRPr>
                      </a:pPr>
                      <a:r>
                        <a:t>41.7%</a:t>
                      </a:r>
                    </a:p>
                  </a:txBody>
                  <a:tcPr/>
                </a:tc>
                <a:tc>
                  <a:txBody>
                    <a:bodyPr/>
                    <a:lstStyle/>
                    <a:p>
                      <a:pPr>
                        <a:defRPr sz="700">
                          <a:solidFill>
                            <a:srgbClr val="1A1A2E"/>
                          </a:solidFill>
                        </a:defRPr>
                      </a:pPr>
                      <a:r>
                        <a:t>51.6%</a:t>
                      </a:r>
                    </a:p>
                  </a:txBody>
                  <a:tcPr/>
                </a:tc>
                <a:tc>
                  <a:txBody>
                    <a:bodyPr/>
                    <a:lstStyle/>
                    <a:p>
                      <a:pPr>
                        <a:defRPr sz="700">
                          <a:solidFill>
                            <a:srgbClr val="1A1A2E"/>
                          </a:solidFill>
                        </a:defRPr>
                      </a:pPr>
                      <a:r>
                        <a:t>6.6%</a:t>
                      </a:r>
                    </a:p>
                  </a:txBody>
                  <a:tcPr/>
                </a:tc>
                <a:tc>
                  <a:txBody>
                    <a:bodyPr/>
                    <a:lstStyle/>
                    <a:p>
                      <a:pPr>
                        <a:defRPr sz="700" b="1">
                          <a:solidFill>
                            <a:srgbClr val="059669"/>
                          </a:solidFill>
                        </a:defRPr>
                      </a:pPr>
                      <a:r>
                        <a:t>BALANCED</a:t>
                      </a:r>
                    </a:p>
                  </a:txBody>
                  <a:tcPr/>
                </a:tc>
              </a:tr>
            </a:tbl>
          </a:graphicData>
        </a:graphic>
      </p:graphicFrame>
      <p:sp>
        <p:nvSpPr>
          <p:cNvPr id="8" name="TextBox 7"/>
          <p:cNvSpPr txBox="1"/>
          <p:nvPr/>
        </p:nvSpPr>
        <p:spPr>
          <a:xfrm>
            <a:off x="6217920" y="1783080"/>
            <a:ext cx="5486400" cy="228600"/>
          </a:xfrm>
          <a:prstGeom prst="rect">
            <a:avLst/>
          </a:prstGeom>
          <a:noFill/>
        </p:spPr>
        <p:txBody>
          <a:bodyPr wrap="square">
            <a:spAutoFit/>
          </a:bodyPr>
          <a:lstStyle/>
          <a:p>
            <a:pPr algn="l">
              <a:defRPr sz="1000" b="1">
                <a:solidFill>
                  <a:srgbClr val="059669"/>
                </a:solidFill>
              </a:defRPr>
            </a:pPr>
            <a:r>
              <a:t>LOW-COST FUNDING LEADERS — PROTECT &amp; REPLICATE</a:t>
            </a:r>
          </a:p>
        </p:txBody>
      </p:sp>
      <p:graphicFrame>
        <p:nvGraphicFramePr>
          <p:cNvPr id="9" name="Table 8"/>
          <p:cNvGraphicFramePr>
            <a:graphicFrameLocks noGrp="1"/>
          </p:cNvGraphicFramePr>
          <p:nvPr/>
        </p:nvGraphicFramePr>
        <p:xfrm>
          <a:off x="6217920" y="2057400"/>
          <a:ext cx="5486400" cy="3200400"/>
        </p:xfrm>
        <a:graphic>
          <a:graphicData uri="http://schemas.openxmlformats.org/drawingml/2006/table">
            <a:tbl>
              <a:tblPr firstRow="1" bandRow="1">
                <a:tableStyleId>{5C22544A-7EE6-4342-B048-85BDC9FD1C3A}</a:tableStyleId>
              </a:tblPr>
              <a:tblGrid>
                <a:gridCol w="2103120"/>
                <a:gridCol w="822960"/>
                <a:gridCol w="731520"/>
                <a:gridCol w="731520"/>
                <a:gridCol w="1097280"/>
              </a:tblGrid>
              <a:tr h="290945">
                <a:tc>
                  <a:txBody>
                    <a:bodyPr/>
                    <a:lstStyle/>
                    <a:p>
                      <a:pPr>
                        <a:defRPr sz="800" b="1">
                          <a:solidFill>
                            <a:srgbClr val="FFFFFF"/>
                          </a:solidFill>
                        </a:defRPr>
                      </a:pPr>
                      <a:r>
                        <a:t>Branch</a:t>
                      </a:r>
                    </a:p>
                  </a:txBody>
                  <a:tcPr>
                    <a:solidFill>
                      <a:srgbClr val="002B49"/>
                    </a:solidFill>
                  </a:tcPr>
                </a:tc>
                <a:tc>
                  <a:txBody>
                    <a:bodyPr/>
                    <a:lstStyle/>
                    <a:p>
                      <a:pPr>
                        <a:defRPr sz="800" b="1">
                          <a:solidFill>
                            <a:srgbClr val="FFFFFF"/>
                          </a:solidFill>
                        </a:defRPr>
                      </a:pPr>
                      <a:r>
                        <a:t>CA%</a:t>
                      </a:r>
                    </a:p>
                  </a:txBody>
                  <a:tcPr>
                    <a:solidFill>
                      <a:srgbClr val="002B49"/>
                    </a:solidFill>
                  </a:tcPr>
                </a:tc>
                <a:tc>
                  <a:txBody>
                    <a:bodyPr/>
                    <a:lstStyle/>
                    <a:p>
                      <a:pPr>
                        <a:defRPr sz="800" b="1">
                          <a:solidFill>
                            <a:srgbClr val="FFFFFF"/>
                          </a:solidFill>
                        </a:defRPr>
                      </a:pPr>
                      <a:r>
                        <a:t>TDA%</a:t>
                      </a:r>
                    </a:p>
                  </a:txBody>
                  <a:tcPr>
                    <a:solidFill>
                      <a:srgbClr val="002B49"/>
                    </a:solidFill>
                  </a:tcPr>
                </a:tc>
                <a:tc>
                  <a:txBody>
                    <a:bodyPr/>
                    <a:lstStyle/>
                    <a:p>
                      <a:pPr>
                        <a:defRPr sz="800" b="1">
                          <a:solidFill>
                            <a:srgbClr val="FFFFFF"/>
                          </a:solidFill>
                        </a:defRPr>
                      </a:pPr>
                      <a:r>
                        <a:t>SA%</a:t>
                      </a:r>
                    </a:p>
                  </a:txBody>
                  <a:tcPr>
                    <a:solidFill>
                      <a:srgbClr val="002B49"/>
                    </a:solidFill>
                  </a:tcPr>
                </a:tc>
                <a:tc>
                  <a:txBody>
                    <a:bodyPr/>
                    <a:lstStyle/>
                    <a:p>
                      <a:pPr>
                        <a:defRPr sz="800" b="1">
                          <a:solidFill>
                            <a:srgbClr val="FFFFFF"/>
                          </a:solidFill>
                        </a:defRPr>
                      </a:pPr>
                      <a:r>
                        <a:t>Model</a:t>
                      </a:r>
                    </a:p>
                  </a:txBody>
                  <a:tcPr>
                    <a:solidFill>
                      <a:srgbClr val="002B49"/>
                    </a:solidFill>
                  </a:tcPr>
                </a:tc>
              </a:tr>
              <a:tr h="290945">
                <a:tc>
                  <a:txBody>
                    <a:bodyPr/>
                    <a:lstStyle/>
                    <a:p>
                      <a:pPr>
                        <a:defRPr sz="700">
                          <a:solidFill>
                            <a:srgbClr val="1A1A2E"/>
                          </a:solidFill>
                        </a:defRPr>
                      </a:pPr>
                      <a:r>
                        <a:t>Ekspozitura Shterpce</a:t>
                      </a:r>
                    </a:p>
                  </a:txBody>
                  <a:tcPr/>
                </a:tc>
                <a:tc>
                  <a:txBody>
                    <a:bodyPr/>
                    <a:lstStyle/>
                    <a:p>
                      <a:pPr>
                        <a:defRPr sz="700">
                          <a:solidFill>
                            <a:srgbClr val="1A1A2E"/>
                          </a:solidFill>
                        </a:defRPr>
                      </a:pPr>
                      <a:r>
                        <a:t>73.9%</a:t>
                      </a:r>
                    </a:p>
                  </a:txBody>
                  <a:tcPr/>
                </a:tc>
                <a:tc>
                  <a:txBody>
                    <a:bodyPr/>
                    <a:lstStyle/>
                    <a:p>
                      <a:pPr>
                        <a:defRPr sz="700">
                          <a:solidFill>
                            <a:srgbClr val="1A1A2E"/>
                          </a:solidFill>
                        </a:defRPr>
                      </a:pPr>
                      <a:r>
                        <a:t>24.4%</a:t>
                      </a:r>
                    </a:p>
                  </a:txBody>
                  <a:tcPr/>
                </a:tc>
                <a:tc>
                  <a:txBody>
                    <a:bodyPr/>
                    <a:lstStyle/>
                    <a:p>
                      <a:pPr>
                        <a:defRPr sz="700">
                          <a:solidFill>
                            <a:srgbClr val="1A1A2E"/>
                          </a:solidFill>
                        </a:defRPr>
                      </a:pPr>
                      <a:r>
                        <a:t>1.7%</a:t>
                      </a:r>
                    </a:p>
                  </a:txBody>
                  <a:tcPr/>
                </a:tc>
                <a:tc>
                  <a:txBody>
                    <a:bodyPr/>
                    <a:lstStyle/>
                    <a:p>
                      <a:pPr>
                        <a:defRPr sz="700">
                          <a:solidFill>
                            <a:srgbClr val="059669"/>
                          </a:solidFill>
                        </a:defRPr>
                      </a:pPr>
                      <a:r>
                        <a:t>BENCHMARK</a:t>
                      </a:r>
                    </a:p>
                  </a:txBody>
                  <a:tcPr/>
                </a:tc>
              </a:tr>
              <a:tr h="290945">
                <a:tc>
                  <a:txBody>
                    <a:bodyPr/>
                    <a:lstStyle/>
                    <a:p>
                      <a:pPr>
                        <a:defRPr sz="700">
                          <a:solidFill>
                            <a:srgbClr val="1A1A2E"/>
                          </a:solidFill>
                        </a:defRPr>
                      </a:pPr>
                      <a:r>
                        <a:t>Ekspozitura Lipjan</a:t>
                      </a:r>
                    </a:p>
                  </a:txBody>
                  <a:tcPr/>
                </a:tc>
                <a:tc>
                  <a:txBody>
                    <a:bodyPr/>
                    <a:lstStyle/>
                    <a:p>
                      <a:pPr>
                        <a:defRPr sz="700">
                          <a:solidFill>
                            <a:srgbClr val="1A1A2E"/>
                          </a:solidFill>
                        </a:defRPr>
                      </a:pPr>
                      <a:r>
                        <a:t>70.6%</a:t>
                      </a:r>
                    </a:p>
                  </a:txBody>
                  <a:tcPr/>
                </a:tc>
                <a:tc>
                  <a:txBody>
                    <a:bodyPr/>
                    <a:lstStyle/>
                    <a:p>
                      <a:pPr>
                        <a:defRPr sz="700">
                          <a:solidFill>
                            <a:srgbClr val="1A1A2E"/>
                          </a:solidFill>
                        </a:defRPr>
                      </a:pPr>
                      <a:r>
                        <a:t>27.2%</a:t>
                      </a:r>
                    </a:p>
                  </a:txBody>
                  <a:tcPr/>
                </a:tc>
                <a:tc>
                  <a:txBody>
                    <a:bodyPr/>
                    <a:lstStyle/>
                    <a:p>
                      <a:pPr>
                        <a:defRPr sz="700">
                          <a:solidFill>
                            <a:srgbClr val="1A1A2E"/>
                          </a:solidFill>
                        </a:defRPr>
                      </a:pPr>
                      <a:r>
                        <a:t>2.2%</a:t>
                      </a:r>
                    </a:p>
                  </a:txBody>
                  <a:tcPr/>
                </a:tc>
                <a:tc>
                  <a:txBody>
                    <a:bodyPr/>
                    <a:lstStyle/>
                    <a:p>
                      <a:pPr>
                        <a:defRPr sz="700">
                          <a:solidFill>
                            <a:srgbClr val="059669"/>
                          </a:solidFill>
                        </a:defRPr>
                      </a:pPr>
                      <a:r>
                        <a:t>BENCHMARK</a:t>
                      </a:r>
                    </a:p>
                  </a:txBody>
                  <a:tcPr/>
                </a:tc>
              </a:tr>
              <a:tr h="290945">
                <a:tc>
                  <a:txBody>
                    <a:bodyPr/>
                    <a:lstStyle/>
                    <a:p>
                      <a:pPr>
                        <a:defRPr sz="700">
                          <a:solidFill>
                            <a:srgbClr val="1A1A2E"/>
                          </a:solidFill>
                        </a:defRPr>
                      </a:pPr>
                      <a:r>
                        <a:t>Ekspozitura Skenderaj</a:t>
                      </a:r>
                    </a:p>
                  </a:txBody>
                  <a:tcPr/>
                </a:tc>
                <a:tc>
                  <a:txBody>
                    <a:bodyPr/>
                    <a:lstStyle/>
                    <a:p>
                      <a:pPr>
                        <a:defRPr sz="700">
                          <a:solidFill>
                            <a:srgbClr val="1A1A2E"/>
                          </a:solidFill>
                        </a:defRPr>
                      </a:pPr>
                      <a:r>
                        <a:t>69.1%</a:t>
                      </a:r>
                    </a:p>
                  </a:txBody>
                  <a:tcPr/>
                </a:tc>
                <a:tc>
                  <a:txBody>
                    <a:bodyPr/>
                    <a:lstStyle/>
                    <a:p>
                      <a:pPr>
                        <a:defRPr sz="700">
                          <a:solidFill>
                            <a:srgbClr val="1A1A2E"/>
                          </a:solidFill>
                        </a:defRPr>
                      </a:pPr>
                      <a:r>
                        <a:t>27.8%</a:t>
                      </a:r>
                    </a:p>
                  </a:txBody>
                  <a:tcPr/>
                </a:tc>
                <a:tc>
                  <a:txBody>
                    <a:bodyPr/>
                    <a:lstStyle/>
                    <a:p>
                      <a:pPr>
                        <a:defRPr sz="700">
                          <a:solidFill>
                            <a:srgbClr val="1A1A2E"/>
                          </a:solidFill>
                        </a:defRPr>
                      </a:pPr>
                      <a:r>
                        <a:t>3.1%</a:t>
                      </a:r>
                    </a:p>
                  </a:txBody>
                  <a:tcPr/>
                </a:tc>
                <a:tc>
                  <a:txBody>
                    <a:bodyPr/>
                    <a:lstStyle/>
                    <a:p>
                      <a:pPr>
                        <a:defRPr sz="700">
                          <a:solidFill>
                            <a:srgbClr val="059669"/>
                          </a:solidFill>
                        </a:defRPr>
                      </a:pPr>
                      <a:r>
                        <a:t>BENCHMARK</a:t>
                      </a:r>
                    </a:p>
                  </a:txBody>
                  <a:tcPr/>
                </a:tc>
              </a:tr>
              <a:tr h="290945">
                <a:tc>
                  <a:txBody>
                    <a:bodyPr/>
                    <a:lstStyle/>
                    <a:p>
                      <a:pPr>
                        <a:defRPr sz="700">
                          <a:solidFill>
                            <a:srgbClr val="1A1A2E"/>
                          </a:solidFill>
                        </a:defRPr>
                      </a:pPr>
                      <a:r>
                        <a:t>Ekspozitura Kacanik</a:t>
                      </a:r>
                    </a:p>
                  </a:txBody>
                  <a:tcPr/>
                </a:tc>
                <a:tc>
                  <a:txBody>
                    <a:bodyPr/>
                    <a:lstStyle/>
                    <a:p>
                      <a:pPr>
                        <a:defRPr sz="700">
                          <a:solidFill>
                            <a:srgbClr val="1A1A2E"/>
                          </a:solidFill>
                        </a:defRPr>
                      </a:pPr>
                      <a:r>
                        <a:t>68.8%</a:t>
                      </a:r>
                    </a:p>
                  </a:txBody>
                  <a:tcPr/>
                </a:tc>
                <a:tc>
                  <a:txBody>
                    <a:bodyPr/>
                    <a:lstStyle/>
                    <a:p>
                      <a:pPr>
                        <a:defRPr sz="700">
                          <a:solidFill>
                            <a:srgbClr val="1A1A2E"/>
                          </a:solidFill>
                        </a:defRPr>
                      </a:pPr>
                      <a:r>
                        <a:t>23.4%</a:t>
                      </a:r>
                    </a:p>
                  </a:txBody>
                  <a:tcPr/>
                </a:tc>
                <a:tc>
                  <a:txBody>
                    <a:bodyPr/>
                    <a:lstStyle/>
                    <a:p>
                      <a:pPr>
                        <a:defRPr sz="700">
                          <a:solidFill>
                            <a:srgbClr val="1A1A2E"/>
                          </a:solidFill>
                        </a:defRPr>
                      </a:pPr>
                      <a:r>
                        <a:t>7.8%</a:t>
                      </a:r>
                    </a:p>
                  </a:txBody>
                  <a:tcPr/>
                </a:tc>
                <a:tc>
                  <a:txBody>
                    <a:bodyPr/>
                    <a:lstStyle/>
                    <a:p>
                      <a:pPr>
                        <a:defRPr sz="700">
                          <a:solidFill>
                            <a:srgbClr val="059669"/>
                          </a:solidFill>
                        </a:defRPr>
                      </a:pPr>
                      <a:r>
                        <a:t>BENCHMARK</a:t>
                      </a:r>
                    </a:p>
                  </a:txBody>
                  <a:tcPr/>
                </a:tc>
              </a:tr>
              <a:tr h="290945">
                <a:tc>
                  <a:txBody>
                    <a:bodyPr/>
                    <a:lstStyle/>
                    <a:p>
                      <a:pPr>
                        <a:defRPr sz="700">
                          <a:solidFill>
                            <a:srgbClr val="1A1A2E"/>
                          </a:solidFill>
                        </a:defRPr>
                      </a:pPr>
                      <a:r>
                        <a:t>Ekspozitura Hani i Elezit</a:t>
                      </a:r>
                    </a:p>
                  </a:txBody>
                  <a:tcPr/>
                </a:tc>
                <a:tc>
                  <a:txBody>
                    <a:bodyPr/>
                    <a:lstStyle/>
                    <a:p>
                      <a:pPr>
                        <a:defRPr sz="700">
                          <a:solidFill>
                            <a:srgbClr val="1A1A2E"/>
                          </a:solidFill>
                        </a:defRPr>
                      </a:pPr>
                      <a:r>
                        <a:t>64.9%</a:t>
                      </a:r>
                    </a:p>
                  </a:txBody>
                  <a:tcPr/>
                </a:tc>
                <a:tc>
                  <a:txBody>
                    <a:bodyPr/>
                    <a:lstStyle/>
                    <a:p>
                      <a:pPr>
                        <a:defRPr sz="700">
                          <a:solidFill>
                            <a:srgbClr val="1A1A2E"/>
                          </a:solidFill>
                        </a:defRPr>
                      </a:pPr>
                      <a:r>
                        <a:t>30.8%</a:t>
                      </a:r>
                    </a:p>
                  </a:txBody>
                  <a:tcPr/>
                </a:tc>
                <a:tc>
                  <a:txBody>
                    <a:bodyPr/>
                    <a:lstStyle/>
                    <a:p>
                      <a:pPr>
                        <a:defRPr sz="700">
                          <a:solidFill>
                            <a:srgbClr val="1A1A2E"/>
                          </a:solidFill>
                        </a:defRPr>
                      </a:pPr>
                      <a:r>
                        <a:t>4.4%</a:t>
                      </a:r>
                    </a:p>
                  </a:txBody>
                  <a:tcPr/>
                </a:tc>
                <a:tc>
                  <a:txBody>
                    <a:bodyPr/>
                    <a:lstStyle/>
                    <a:p>
                      <a:pPr>
                        <a:defRPr sz="700">
                          <a:solidFill>
                            <a:srgbClr val="059669"/>
                          </a:solidFill>
                        </a:defRPr>
                      </a:pPr>
                      <a:r>
                        <a:t>STRONG</a:t>
                      </a:r>
                    </a:p>
                  </a:txBody>
                  <a:tcPr/>
                </a:tc>
              </a:tr>
              <a:tr h="290945">
                <a:tc>
                  <a:txBody>
                    <a:bodyPr/>
                    <a:lstStyle/>
                    <a:p>
                      <a:pPr>
                        <a:defRPr sz="700">
                          <a:solidFill>
                            <a:srgbClr val="1A1A2E"/>
                          </a:solidFill>
                        </a:defRPr>
                      </a:pPr>
                      <a:r>
                        <a:t>Ekspozitura Malisheve</a:t>
                      </a:r>
                    </a:p>
                  </a:txBody>
                  <a:tcPr/>
                </a:tc>
                <a:tc>
                  <a:txBody>
                    <a:bodyPr/>
                    <a:lstStyle/>
                    <a:p>
                      <a:pPr>
                        <a:defRPr sz="700">
                          <a:solidFill>
                            <a:srgbClr val="1A1A2E"/>
                          </a:solidFill>
                        </a:defRPr>
                      </a:pPr>
                      <a:r>
                        <a:t>64.0%</a:t>
                      </a:r>
                    </a:p>
                  </a:txBody>
                  <a:tcPr/>
                </a:tc>
                <a:tc>
                  <a:txBody>
                    <a:bodyPr/>
                    <a:lstStyle/>
                    <a:p>
                      <a:pPr>
                        <a:defRPr sz="700">
                          <a:solidFill>
                            <a:srgbClr val="1A1A2E"/>
                          </a:solidFill>
                        </a:defRPr>
                      </a:pPr>
                      <a:r>
                        <a:t>32.9%</a:t>
                      </a:r>
                    </a:p>
                  </a:txBody>
                  <a:tcPr/>
                </a:tc>
                <a:tc>
                  <a:txBody>
                    <a:bodyPr/>
                    <a:lstStyle/>
                    <a:p>
                      <a:pPr>
                        <a:defRPr sz="700">
                          <a:solidFill>
                            <a:srgbClr val="1A1A2E"/>
                          </a:solidFill>
                        </a:defRPr>
                      </a:pPr>
                      <a:r>
                        <a:t>3.1%</a:t>
                      </a:r>
                    </a:p>
                  </a:txBody>
                  <a:tcPr/>
                </a:tc>
                <a:tc>
                  <a:txBody>
                    <a:bodyPr/>
                    <a:lstStyle/>
                    <a:p>
                      <a:pPr>
                        <a:defRPr sz="700">
                          <a:solidFill>
                            <a:srgbClr val="059669"/>
                          </a:solidFill>
                        </a:defRPr>
                      </a:pPr>
                      <a:r>
                        <a:t>STRONG</a:t>
                      </a:r>
                    </a:p>
                  </a:txBody>
                  <a:tcPr/>
                </a:tc>
              </a:tr>
              <a:tr h="290945">
                <a:tc>
                  <a:txBody>
                    <a:bodyPr/>
                    <a:lstStyle/>
                    <a:p>
                      <a:pPr>
                        <a:defRPr sz="700">
                          <a:solidFill>
                            <a:srgbClr val="1A1A2E"/>
                          </a:solidFill>
                        </a:defRPr>
                      </a:pPr>
                      <a:r>
                        <a:t>Filiali Ferizaj</a:t>
                      </a:r>
                    </a:p>
                  </a:txBody>
                  <a:tcPr/>
                </a:tc>
                <a:tc>
                  <a:txBody>
                    <a:bodyPr/>
                    <a:lstStyle/>
                    <a:p>
                      <a:pPr>
                        <a:defRPr sz="700">
                          <a:solidFill>
                            <a:srgbClr val="1A1A2E"/>
                          </a:solidFill>
                        </a:defRPr>
                      </a:pPr>
                      <a:r>
                        <a:t>63.8%</a:t>
                      </a:r>
                    </a:p>
                  </a:txBody>
                  <a:tcPr/>
                </a:tc>
                <a:tc>
                  <a:txBody>
                    <a:bodyPr/>
                    <a:lstStyle/>
                    <a:p>
                      <a:pPr>
                        <a:defRPr sz="700">
                          <a:solidFill>
                            <a:srgbClr val="1A1A2E"/>
                          </a:solidFill>
                        </a:defRPr>
                      </a:pPr>
                      <a:r>
                        <a:t>31.7%</a:t>
                      </a:r>
                    </a:p>
                  </a:txBody>
                  <a:tcPr/>
                </a:tc>
                <a:tc>
                  <a:txBody>
                    <a:bodyPr/>
                    <a:lstStyle/>
                    <a:p>
                      <a:pPr>
                        <a:defRPr sz="700">
                          <a:solidFill>
                            <a:srgbClr val="1A1A2E"/>
                          </a:solidFill>
                        </a:defRPr>
                      </a:pPr>
                      <a:r>
                        <a:t>4.5%</a:t>
                      </a:r>
                    </a:p>
                  </a:txBody>
                  <a:tcPr/>
                </a:tc>
                <a:tc>
                  <a:txBody>
                    <a:bodyPr/>
                    <a:lstStyle/>
                    <a:p>
                      <a:pPr>
                        <a:defRPr sz="700">
                          <a:solidFill>
                            <a:srgbClr val="059669"/>
                          </a:solidFill>
                        </a:defRPr>
                      </a:pPr>
                      <a:r>
                        <a:t>STRONG</a:t>
                      </a:r>
                    </a:p>
                  </a:txBody>
                  <a:tcPr/>
                </a:tc>
              </a:tr>
              <a:tr h="290945">
                <a:tc>
                  <a:txBody>
                    <a:bodyPr/>
                    <a:lstStyle/>
                    <a:p>
                      <a:pPr>
                        <a:defRPr sz="700">
                          <a:solidFill>
                            <a:srgbClr val="1A1A2E"/>
                          </a:solidFill>
                        </a:defRPr>
                      </a:pPr>
                      <a:r>
                        <a:t>Filiali Besiane</a:t>
                      </a:r>
                    </a:p>
                  </a:txBody>
                  <a:tcPr/>
                </a:tc>
                <a:tc>
                  <a:txBody>
                    <a:bodyPr/>
                    <a:lstStyle/>
                    <a:p>
                      <a:pPr>
                        <a:defRPr sz="700">
                          <a:solidFill>
                            <a:srgbClr val="1A1A2E"/>
                          </a:solidFill>
                        </a:defRPr>
                      </a:pPr>
                      <a:r>
                        <a:t>63.6%</a:t>
                      </a:r>
                    </a:p>
                  </a:txBody>
                  <a:tcPr/>
                </a:tc>
                <a:tc>
                  <a:txBody>
                    <a:bodyPr/>
                    <a:lstStyle/>
                    <a:p>
                      <a:pPr>
                        <a:defRPr sz="700">
                          <a:solidFill>
                            <a:srgbClr val="1A1A2E"/>
                          </a:solidFill>
                        </a:defRPr>
                      </a:pPr>
                      <a:r>
                        <a:t>32.9%</a:t>
                      </a:r>
                    </a:p>
                  </a:txBody>
                  <a:tcPr/>
                </a:tc>
                <a:tc>
                  <a:txBody>
                    <a:bodyPr/>
                    <a:lstStyle/>
                    <a:p>
                      <a:pPr>
                        <a:defRPr sz="700">
                          <a:solidFill>
                            <a:srgbClr val="1A1A2E"/>
                          </a:solidFill>
                        </a:defRPr>
                      </a:pPr>
                      <a:r>
                        <a:t>3.5%</a:t>
                      </a:r>
                    </a:p>
                  </a:txBody>
                  <a:tcPr/>
                </a:tc>
                <a:tc>
                  <a:txBody>
                    <a:bodyPr/>
                    <a:lstStyle/>
                    <a:p>
                      <a:pPr>
                        <a:defRPr sz="700">
                          <a:solidFill>
                            <a:srgbClr val="059669"/>
                          </a:solidFill>
                        </a:defRPr>
                      </a:pPr>
                      <a:r>
                        <a:t>STRONG</a:t>
                      </a:r>
                    </a:p>
                  </a:txBody>
                  <a:tcPr/>
                </a:tc>
              </a:tr>
              <a:tr h="290945">
                <a:tc>
                  <a:txBody>
                    <a:bodyPr/>
                    <a:lstStyle/>
                    <a:p>
                      <a:pPr>
                        <a:defRPr sz="700">
                          <a:solidFill>
                            <a:srgbClr val="1A1A2E"/>
                          </a:solidFill>
                        </a:defRPr>
                      </a:pPr>
                      <a:r>
                        <a:t>Ekspozitura Suhareke</a:t>
                      </a:r>
                    </a:p>
                  </a:txBody>
                  <a:tcPr/>
                </a:tc>
                <a:tc>
                  <a:txBody>
                    <a:bodyPr/>
                    <a:lstStyle/>
                    <a:p>
                      <a:pPr>
                        <a:defRPr sz="700">
                          <a:solidFill>
                            <a:srgbClr val="1A1A2E"/>
                          </a:solidFill>
                        </a:defRPr>
                      </a:pPr>
                      <a:r>
                        <a:t>62.0%</a:t>
                      </a:r>
                    </a:p>
                  </a:txBody>
                  <a:tcPr/>
                </a:tc>
                <a:tc>
                  <a:txBody>
                    <a:bodyPr/>
                    <a:lstStyle/>
                    <a:p>
                      <a:pPr>
                        <a:defRPr sz="700">
                          <a:solidFill>
                            <a:srgbClr val="1A1A2E"/>
                          </a:solidFill>
                        </a:defRPr>
                      </a:pPr>
                      <a:r>
                        <a:t>36.2%</a:t>
                      </a:r>
                    </a:p>
                  </a:txBody>
                  <a:tcPr/>
                </a:tc>
                <a:tc>
                  <a:txBody>
                    <a:bodyPr/>
                    <a:lstStyle/>
                    <a:p>
                      <a:pPr>
                        <a:defRPr sz="700">
                          <a:solidFill>
                            <a:srgbClr val="1A1A2E"/>
                          </a:solidFill>
                        </a:defRPr>
                      </a:pPr>
                      <a:r>
                        <a:t>1.8%</a:t>
                      </a:r>
                    </a:p>
                  </a:txBody>
                  <a:tcPr/>
                </a:tc>
                <a:tc>
                  <a:txBody>
                    <a:bodyPr/>
                    <a:lstStyle/>
                    <a:p>
                      <a:pPr>
                        <a:defRPr sz="700">
                          <a:solidFill>
                            <a:srgbClr val="059669"/>
                          </a:solidFill>
                        </a:defRPr>
                      </a:pPr>
                      <a:r>
                        <a:t>STRONG</a:t>
                      </a:r>
                    </a:p>
                  </a:txBody>
                  <a:tcPr/>
                </a:tc>
              </a:tr>
              <a:tr h="290950">
                <a:tc>
                  <a:txBody>
                    <a:bodyPr/>
                    <a:lstStyle/>
                    <a:p>
                      <a:pPr>
                        <a:defRPr sz="700">
                          <a:solidFill>
                            <a:srgbClr val="1A1A2E"/>
                          </a:solidFill>
                        </a:defRPr>
                      </a:pPr>
                      <a:r>
                        <a:t>Ekspozitura Kamenice</a:t>
                      </a:r>
                    </a:p>
                  </a:txBody>
                  <a:tcPr/>
                </a:tc>
                <a:tc>
                  <a:txBody>
                    <a:bodyPr/>
                    <a:lstStyle/>
                    <a:p>
                      <a:pPr>
                        <a:defRPr sz="700">
                          <a:solidFill>
                            <a:srgbClr val="1A1A2E"/>
                          </a:solidFill>
                        </a:defRPr>
                      </a:pPr>
                      <a:r>
                        <a:t>61.7%</a:t>
                      </a:r>
                    </a:p>
                  </a:txBody>
                  <a:tcPr/>
                </a:tc>
                <a:tc>
                  <a:txBody>
                    <a:bodyPr/>
                    <a:lstStyle/>
                    <a:p>
                      <a:pPr>
                        <a:defRPr sz="700">
                          <a:solidFill>
                            <a:srgbClr val="1A1A2E"/>
                          </a:solidFill>
                        </a:defRPr>
                      </a:pPr>
                      <a:r>
                        <a:t>35.3%</a:t>
                      </a:r>
                    </a:p>
                  </a:txBody>
                  <a:tcPr/>
                </a:tc>
                <a:tc>
                  <a:txBody>
                    <a:bodyPr/>
                    <a:lstStyle/>
                    <a:p>
                      <a:pPr>
                        <a:defRPr sz="700">
                          <a:solidFill>
                            <a:srgbClr val="1A1A2E"/>
                          </a:solidFill>
                        </a:defRPr>
                      </a:pPr>
                      <a:r>
                        <a:t>3.0%</a:t>
                      </a:r>
                    </a:p>
                  </a:txBody>
                  <a:tcPr/>
                </a:tc>
                <a:tc>
                  <a:txBody>
                    <a:bodyPr/>
                    <a:lstStyle/>
                    <a:p>
                      <a:pPr>
                        <a:defRPr sz="700">
                          <a:solidFill>
                            <a:srgbClr val="059669"/>
                          </a:solidFill>
                        </a:defRPr>
                      </a:pPr>
                      <a:r>
                        <a:t>STRONG</a:t>
                      </a:r>
                    </a:p>
                  </a:txBody>
                  <a:tcPr/>
                </a:tc>
              </a:tr>
            </a:tbl>
          </a:graphicData>
        </a:graphic>
      </p:graphicFrame>
      <p:sp>
        <p:nvSpPr>
          <p:cNvPr id="10" name="Rectangle 9"/>
          <p:cNvSpPr/>
          <p:nvPr/>
        </p:nvSpPr>
        <p:spPr>
          <a:xfrm>
            <a:off x="365760" y="5486400"/>
            <a:ext cx="11430000" cy="594360"/>
          </a:xfrm>
          <a:prstGeom prst="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900" b="1">
                <a:solidFill>
                  <a:srgbClr val="D97706"/>
                </a:solidFill>
              </a:rPr>
              <a:t>CAUTION:  </a:t>
            </a:r>
            <a:r>
              <a:rPr sz="800">
                <a:solidFill>
                  <a:srgbClr val="1A1A2E"/>
                </a:solidFill>
              </a:rPr>
              <a:t>Do not reduce TDA blindly. If branch or bank liquidity requires term deposits, maintain them but flag the cost impact. The recommendation is to STOP INCENTIVIZING additional TDA growth in branches where CA/salary alternatives are realistic. No rate data available — all funding-cost logic is directional (TDA is structurally more expensive than CA).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144000" cy="365760"/>
          </a:xfrm>
          <a:prstGeom prst="rect">
            <a:avLst/>
          </a:prstGeom>
          <a:noFill/>
        </p:spPr>
        <p:txBody>
          <a:bodyPr wrap="square">
            <a:spAutoFit/>
          </a:bodyPr>
          <a:lstStyle/>
          <a:p>
            <a:pPr algn="l">
              <a:defRPr sz="2000" b="1">
                <a:solidFill>
                  <a:srgbClr val="FFFFFF"/>
                </a:solidFill>
              </a:defRPr>
            </a:pPr>
            <a:r>
              <a:t>POS &amp; MERCHANT ACQUIRING — THE UNTAPPED COMMERCIAL LEVER</a:t>
            </a:r>
          </a:p>
        </p:txBody>
      </p:sp>
      <p:sp>
        <p:nvSpPr>
          <p:cNvPr id="4" name="TextBox 3"/>
          <p:cNvSpPr txBox="1"/>
          <p:nvPr/>
        </p:nvSpPr>
        <p:spPr>
          <a:xfrm>
            <a:off x="457200" y="475488"/>
            <a:ext cx="9144000" cy="274320"/>
          </a:xfrm>
          <a:prstGeom prst="rect">
            <a:avLst/>
          </a:prstGeom>
          <a:noFill/>
        </p:spPr>
        <p:txBody>
          <a:bodyPr wrap="square">
            <a:spAutoFit/>
          </a:bodyPr>
          <a:lstStyle/>
          <a:p>
            <a:pPr algn="l">
              <a:defRPr sz="1000" b="0">
                <a:solidFill>
                  <a:srgbClr val="A0BCD8"/>
                </a:solidFill>
              </a:defRPr>
            </a:pPr>
            <a:r>
              <a:t>Terminal density, business coverage, deployment priorities</a:t>
            </a:r>
          </a:p>
        </p:txBody>
      </p:sp>
      <p:sp>
        <p:nvSpPr>
          <p:cNvPr id="5" name="Rectangle 4"/>
          <p:cNvSpPr/>
          <p:nvPr/>
        </p:nvSpPr>
        <p:spPr>
          <a:xfrm>
            <a:off x="365760" y="1005840"/>
            <a:ext cx="11430000" cy="594360"/>
          </a:xfrm>
          <a:prstGeom prst="rect">
            <a:avLst/>
          </a:prstGeom>
          <a:solidFill>
            <a:srgbClr val="F0F4F8"/>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000" b="1">
                <a:solidFill>
                  <a:srgbClr val="002B49"/>
                </a:solidFill>
              </a:rPr>
              <a:t>SO WHAT:  </a:t>
            </a:r>
            <a:r>
              <a:rPr sz="900">
                <a:solidFill>
                  <a:srgbClr val="1A1A2E"/>
                </a:solidFill>
              </a:rPr>
              <a:t>NLB Prishtina has 3,819 POS terminals across ~148,700 businesses — a 2.6% density. Five branches have ZERO POS terminals. 1001 Prishtine serves a 21,396-business market with no merchant acquiring whatsoever. POS is not just an infrastructure metric — it is a commercial product that drives business-client acquisition, transaction revenue, and cashless migration.</a:t>
            </a:r>
          </a:p>
        </p:txBody>
      </p:sp>
      <p:sp>
        <p:nvSpPr>
          <p:cNvPr id="6" name="Rectangle 5"/>
          <p:cNvSpPr/>
          <p:nvPr/>
        </p:nvSpPr>
        <p:spPr>
          <a:xfrm>
            <a:off x="365760" y="1828800"/>
            <a:ext cx="3474720" cy="777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828800"/>
            <a:ext cx="54864" cy="7772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01952"/>
            <a:ext cx="3108960" cy="182880"/>
          </a:xfrm>
          <a:prstGeom prst="rect">
            <a:avLst/>
          </a:prstGeom>
          <a:noFill/>
        </p:spPr>
        <p:txBody>
          <a:bodyPr wrap="square">
            <a:spAutoFit/>
          </a:bodyPr>
          <a:lstStyle/>
          <a:p>
            <a:pPr algn="l">
              <a:defRPr sz="800" b="1">
                <a:solidFill>
                  <a:srgbClr val="64748B"/>
                </a:solidFill>
              </a:defRPr>
            </a:pPr>
            <a:r>
              <a:t>NETWORK POS TERMINALS</a:t>
            </a:r>
          </a:p>
        </p:txBody>
      </p:sp>
      <p:sp>
        <p:nvSpPr>
          <p:cNvPr id="9" name="TextBox 8"/>
          <p:cNvSpPr txBox="1"/>
          <p:nvPr/>
        </p:nvSpPr>
        <p:spPr>
          <a:xfrm>
            <a:off x="548640" y="2084832"/>
            <a:ext cx="3108960" cy="274320"/>
          </a:xfrm>
          <a:prstGeom prst="rect">
            <a:avLst/>
          </a:prstGeom>
          <a:noFill/>
        </p:spPr>
        <p:txBody>
          <a:bodyPr wrap="square">
            <a:spAutoFit/>
          </a:bodyPr>
          <a:lstStyle/>
          <a:p>
            <a:pPr algn="l">
              <a:defRPr sz="2200" b="1">
                <a:solidFill>
                  <a:srgbClr val="0D9488"/>
                </a:solidFill>
              </a:defRPr>
            </a:pPr>
            <a:r>
              <a:t>3,819</a:t>
            </a:r>
          </a:p>
        </p:txBody>
      </p:sp>
      <p:sp>
        <p:nvSpPr>
          <p:cNvPr id="10" name="TextBox 9"/>
          <p:cNvSpPr txBox="1"/>
          <p:nvPr/>
        </p:nvSpPr>
        <p:spPr>
          <a:xfrm>
            <a:off x="548640" y="2395728"/>
            <a:ext cx="3108960" cy="182880"/>
          </a:xfrm>
          <a:prstGeom prst="rect">
            <a:avLst/>
          </a:prstGeom>
          <a:noFill/>
        </p:spPr>
        <p:txBody>
          <a:bodyPr wrap="square">
            <a:spAutoFit/>
          </a:bodyPr>
          <a:lstStyle/>
          <a:p>
            <a:pPr algn="l">
              <a:defRPr sz="800" b="0">
                <a:solidFill>
                  <a:srgbClr val="64748B"/>
                </a:solidFill>
              </a:defRPr>
            </a:pPr>
            <a:r>
              <a:t>2.6% density across ~148,700 businesses</a:t>
            </a:r>
          </a:p>
        </p:txBody>
      </p:sp>
      <p:sp>
        <p:nvSpPr>
          <p:cNvPr id="11" name="Rectangle 10"/>
          <p:cNvSpPr/>
          <p:nvPr/>
        </p:nvSpPr>
        <p:spPr>
          <a:xfrm>
            <a:off x="4114800" y="1828800"/>
            <a:ext cx="3474720" cy="777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0" y="1828800"/>
            <a:ext cx="54864" cy="7772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1901952"/>
            <a:ext cx="3108960" cy="182880"/>
          </a:xfrm>
          <a:prstGeom prst="rect">
            <a:avLst/>
          </a:prstGeom>
          <a:noFill/>
        </p:spPr>
        <p:txBody>
          <a:bodyPr wrap="square">
            <a:spAutoFit/>
          </a:bodyPr>
          <a:lstStyle/>
          <a:p>
            <a:pPr algn="l">
              <a:defRPr sz="800" b="1">
                <a:solidFill>
                  <a:srgbClr val="64748B"/>
                </a:solidFill>
              </a:defRPr>
            </a:pPr>
            <a:r>
              <a:t>BRANCHES WITH ZERO POS</a:t>
            </a:r>
          </a:p>
        </p:txBody>
      </p:sp>
      <p:sp>
        <p:nvSpPr>
          <p:cNvPr id="14" name="TextBox 13"/>
          <p:cNvSpPr txBox="1"/>
          <p:nvPr/>
        </p:nvSpPr>
        <p:spPr>
          <a:xfrm>
            <a:off x="4297680" y="2084832"/>
            <a:ext cx="3108960" cy="274320"/>
          </a:xfrm>
          <a:prstGeom prst="rect">
            <a:avLst/>
          </a:prstGeom>
          <a:noFill/>
        </p:spPr>
        <p:txBody>
          <a:bodyPr wrap="square">
            <a:spAutoFit/>
          </a:bodyPr>
          <a:lstStyle/>
          <a:p>
            <a:pPr algn="l">
              <a:defRPr sz="2200" b="1">
                <a:solidFill>
                  <a:srgbClr val="DC2626"/>
                </a:solidFill>
              </a:defRPr>
            </a:pPr>
            <a:r>
              <a:t>5</a:t>
            </a:r>
          </a:p>
        </p:txBody>
      </p:sp>
      <p:sp>
        <p:nvSpPr>
          <p:cNvPr id="15" name="TextBox 14"/>
          <p:cNvSpPr txBox="1"/>
          <p:nvPr/>
        </p:nvSpPr>
        <p:spPr>
          <a:xfrm>
            <a:off x="4297680" y="2395728"/>
            <a:ext cx="3108960" cy="182880"/>
          </a:xfrm>
          <a:prstGeom prst="rect">
            <a:avLst/>
          </a:prstGeom>
          <a:noFill/>
        </p:spPr>
        <p:txBody>
          <a:bodyPr wrap="square">
            <a:spAutoFit/>
          </a:bodyPr>
          <a:lstStyle/>
          <a:p>
            <a:pPr algn="l">
              <a:defRPr sz="800" b="0">
                <a:solidFill>
                  <a:srgbClr val="64748B"/>
                </a:solidFill>
              </a:defRPr>
            </a:pPr>
            <a:r>
              <a:t>1001 Prishtine, Prizren 2, Llapit, B.Diellit, Mit.2</a:t>
            </a:r>
          </a:p>
        </p:txBody>
      </p:sp>
      <p:sp>
        <p:nvSpPr>
          <p:cNvPr id="16" name="Rectangle 15"/>
          <p:cNvSpPr/>
          <p:nvPr/>
        </p:nvSpPr>
        <p:spPr>
          <a:xfrm>
            <a:off x="7863840" y="1828800"/>
            <a:ext cx="3474720" cy="777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63840" y="1828800"/>
            <a:ext cx="54864" cy="7772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0" y="1901952"/>
            <a:ext cx="3108960" cy="182880"/>
          </a:xfrm>
          <a:prstGeom prst="rect">
            <a:avLst/>
          </a:prstGeom>
          <a:noFill/>
        </p:spPr>
        <p:txBody>
          <a:bodyPr wrap="square">
            <a:spAutoFit/>
          </a:bodyPr>
          <a:lstStyle/>
          <a:p>
            <a:pPr algn="l">
              <a:defRPr sz="800" b="1">
                <a:solidFill>
                  <a:srgbClr val="64748B"/>
                </a:solidFill>
              </a:defRPr>
            </a:pPr>
            <a:r>
              <a:t>TOP POS DENSITY</a:t>
            </a:r>
          </a:p>
        </p:txBody>
      </p:sp>
      <p:sp>
        <p:nvSpPr>
          <p:cNvPr id="19" name="TextBox 18"/>
          <p:cNvSpPr txBox="1"/>
          <p:nvPr/>
        </p:nvSpPr>
        <p:spPr>
          <a:xfrm>
            <a:off x="8046720" y="2084832"/>
            <a:ext cx="3108960" cy="274320"/>
          </a:xfrm>
          <a:prstGeom prst="rect">
            <a:avLst/>
          </a:prstGeom>
          <a:noFill/>
        </p:spPr>
        <p:txBody>
          <a:bodyPr wrap="square">
            <a:spAutoFit/>
          </a:bodyPr>
          <a:lstStyle/>
          <a:p>
            <a:pPr algn="l">
              <a:defRPr sz="2200" b="1">
                <a:solidFill>
                  <a:srgbClr val="059669"/>
                </a:solidFill>
              </a:defRPr>
            </a:pPr>
            <a:r>
              <a:t>10.1%</a:t>
            </a:r>
          </a:p>
        </p:txBody>
      </p:sp>
      <p:sp>
        <p:nvSpPr>
          <p:cNvPr id="20" name="TextBox 19"/>
          <p:cNvSpPr txBox="1"/>
          <p:nvPr/>
        </p:nvSpPr>
        <p:spPr>
          <a:xfrm>
            <a:off x="8046720" y="2395728"/>
            <a:ext cx="3108960" cy="182880"/>
          </a:xfrm>
          <a:prstGeom prst="rect">
            <a:avLst/>
          </a:prstGeom>
          <a:noFill/>
        </p:spPr>
        <p:txBody>
          <a:bodyPr wrap="square">
            <a:spAutoFit/>
          </a:bodyPr>
          <a:lstStyle/>
          <a:p>
            <a:pPr algn="l">
              <a:defRPr sz="800" b="0">
                <a:solidFill>
                  <a:srgbClr val="64748B"/>
                </a:solidFill>
              </a:defRPr>
            </a:pPr>
            <a:r>
              <a:t>Filiali Peje (421 POS / 4,172 businesses)</a:t>
            </a:r>
          </a:p>
        </p:txBody>
      </p:sp>
      <p:sp>
        <p:nvSpPr>
          <p:cNvPr id="21" name="TextBox 20"/>
          <p:cNvSpPr txBox="1"/>
          <p:nvPr/>
        </p:nvSpPr>
        <p:spPr>
          <a:xfrm>
            <a:off x="365760" y="2834640"/>
            <a:ext cx="10972800" cy="228600"/>
          </a:xfrm>
          <a:prstGeom prst="rect">
            <a:avLst/>
          </a:prstGeom>
          <a:noFill/>
        </p:spPr>
        <p:txBody>
          <a:bodyPr wrap="square">
            <a:spAutoFit/>
          </a:bodyPr>
          <a:lstStyle/>
          <a:p>
            <a:pPr algn="l">
              <a:defRPr sz="1100" b="1">
                <a:solidFill>
                  <a:srgbClr val="002B49"/>
                </a:solidFill>
              </a:defRPr>
            </a:pPr>
            <a:r>
              <a:t>POS DEPLOYMENT PRIORITIES</a:t>
            </a:r>
          </a:p>
        </p:txBody>
      </p:sp>
      <p:graphicFrame>
        <p:nvGraphicFramePr>
          <p:cNvPr id="22" name="Table 21"/>
          <p:cNvGraphicFramePr>
            <a:graphicFrameLocks noGrp="1"/>
          </p:cNvGraphicFramePr>
          <p:nvPr/>
        </p:nvGraphicFramePr>
        <p:xfrm>
          <a:off x="365760" y="3108960"/>
          <a:ext cx="11430000" cy="3200400"/>
        </p:xfrm>
        <a:graphic>
          <a:graphicData uri="http://schemas.openxmlformats.org/drawingml/2006/table">
            <a:tbl>
              <a:tblPr firstRow="1" bandRow="1">
                <a:tableStyleId>{5C22544A-7EE6-4342-B048-85BDC9FD1C3A}</a:tableStyleId>
              </a:tblPr>
              <a:tblGrid>
                <a:gridCol w="2560320"/>
                <a:gridCol w="1371600"/>
                <a:gridCol w="914400"/>
                <a:gridCol w="1371600"/>
                <a:gridCol w="1371600"/>
                <a:gridCol w="3840480"/>
              </a:tblGrid>
              <a:tr h="200025">
                <a:tc>
                  <a:txBody>
                    <a:bodyPr/>
                    <a:lstStyle/>
                    <a:p>
                      <a:pPr>
                        <a:defRPr sz="800" b="1">
                          <a:solidFill>
                            <a:srgbClr val="FFFFFF"/>
                          </a:solidFill>
                        </a:defRPr>
                      </a:pPr>
                      <a:r>
                        <a:t>Branch</a:t>
                      </a:r>
                    </a:p>
                  </a:txBody>
                  <a:tcPr>
                    <a:solidFill>
                      <a:srgbClr val="002B49"/>
                    </a:solidFill>
                  </a:tcPr>
                </a:tc>
                <a:tc>
                  <a:txBody>
                    <a:bodyPr/>
                    <a:lstStyle/>
                    <a:p>
                      <a:pPr>
                        <a:defRPr sz="800" b="1">
                          <a:solidFill>
                            <a:srgbClr val="FFFFFF"/>
                          </a:solidFill>
                        </a:defRPr>
                      </a:pPr>
                      <a:r>
                        <a:t>City</a:t>
                      </a:r>
                    </a:p>
                  </a:txBody>
                  <a:tcPr>
                    <a:solidFill>
                      <a:srgbClr val="002B49"/>
                    </a:solidFill>
                  </a:tcPr>
                </a:tc>
                <a:tc>
                  <a:txBody>
                    <a:bodyPr/>
                    <a:lstStyle/>
                    <a:p>
                      <a:pPr>
                        <a:defRPr sz="800" b="1">
                          <a:solidFill>
                            <a:srgbClr val="FFFFFF"/>
                          </a:solidFill>
                        </a:defRPr>
                      </a:pPr>
                      <a:r>
                        <a:t>POS Count</a:t>
                      </a:r>
                    </a:p>
                  </a:txBody>
                  <a:tcPr>
                    <a:solidFill>
                      <a:srgbClr val="002B49"/>
                    </a:solidFill>
                  </a:tcPr>
                </a:tc>
                <a:tc>
                  <a:txBody>
                    <a:bodyPr/>
                    <a:lstStyle/>
                    <a:p>
                      <a:pPr>
                        <a:defRPr sz="800" b="1">
                          <a:solidFill>
                            <a:srgbClr val="FFFFFF"/>
                          </a:solidFill>
                        </a:defRPr>
                      </a:pPr>
                      <a:r>
                        <a:t>Businesses</a:t>
                      </a:r>
                    </a:p>
                  </a:txBody>
                  <a:tcPr>
                    <a:solidFill>
                      <a:srgbClr val="002B49"/>
                    </a:solidFill>
                  </a:tcPr>
                </a:tc>
                <a:tc>
                  <a:txBody>
                    <a:bodyPr/>
                    <a:lstStyle/>
                    <a:p>
                      <a:pPr>
                        <a:defRPr sz="800" b="1">
                          <a:solidFill>
                            <a:srgbClr val="FFFFFF"/>
                          </a:solidFill>
                        </a:defRPr>
                      </a:pPr>
                      <a:r>
                        <a:t>POS/100 Biz</a:t>
                      </a:r>
                    </a:p>
                  </a:txBody>
                  <a:tcPr>
                    <a:solidFill>
                      <a:srgbClr val="002B49"/>
                    </a:solidFill>
                  </a:tcPr>
                </a:tc>
                <a:tc>
                  <a:txBody>
                    <a:bodyPr/>
                    <a:lstStyle/>
                    <a:p>
                      <a:pPr>
                        <a:defRPr sz="800" b="1">
                          <a:solidFill>
                            <a:srgbClr val="FFFFFF"/>
                          </a:solidFill>
                        </a:defRPr>
                      </a:pPr>
                      <a:r>
                        <a:t>Action</a:t>
                      </a:r>
                    </a:p>
                  </a:txBody>
                  <a:tcPr>
                    <a:solidFill>
                      <a:srgbClr val="002B49"/>
                    </a:solidFill>
                  </a:tcPr>
                </a:tc>
              </a:tr>
              <a:tr h="200025">
                <a:tc>
                  <a:txBody>
                    <a:bodyPr/>
                    <a:lstStyle/>
                    <a:p>
                      <a:pPr>
                        <a:defRPr sz="700">
                          <a:solidFill>
                            <a:srgbClr val="1A1A2E"/>
                          </a:solidFill>
                        </a:defRPr>
                      </a:pPr>
                      <a:r>
                        <a:t>Ekspozitura Prishtine-Llapit</a:t>
                      </a:r>
                    </a:p>
                  </a:txBody>
                  <a:tcPr/>
                </a:tc>
                <a:tc>
                  <a:txBody>
                    <a:bodyPr/>
                    <a:lstStyle/>
                    <a:p>
                      <a:pPr>
                        <a:defRPr sz="700">
                          <a:solidFill>
                            <a:srgbClr val="1A1A2E"/>
                          </a:solidFill>
                        </a:defRPr>
                      </a:pPr>
                      <a:r>
                        <a:t>Prishtine</a:t>
                      </a:r>
                    </a:p>
                  </a:txBody>
                  <a:tcPr/>
                </a:tc>
                <a:tc>
                  <a:txBody>
                    <a:bodyPr/>
                    <a:lstStyle/>
                    <a:p>
                      <a:pPr>
                        <a:defRPr sz="700">
                          <a:solidFill>
                            <a:srgbClr val="1A1A2E"/>
                          </a:solidFill>
                        </a:defRPr>
                      </a:pPr>
                      <a:r>
                        <a:t>0</a:t>
                      </a:r>
                    </a:p>
                  </a:txBody>
                  <a:tcPr/>
                </a:tc>
                <a:tc>
                  <a:txBody>
                    <a:bodyPr/>
                    <a:lstStyle/>
                    <a:p>
                      <a:pPr>
                        <a:defRPr sz="700">
                          <a:solidFill>
                            <a:srgbClr val="1A1A2E"/>
                          </a:solidFill>
                        </a:defRPr>
                      </a:pPr>
                      <a:r>
                        <a:t>21,396</a:t>
                      </a:r>
                    </a:p>
                  </a:txBody>
                  <a:tcPr/>
                </a:tc>
                <a:tc>
                  <a:txBody>
                    <a:bodyPr/>
                    <a:lstStyle/>
                    <a:p>
                      <a:pPr>
                        <a:defRPr sz="700" b="1">
                          <a:solidFill>
                            <a:srgbClr val="DC2626"/>
                          </a:solidFill>
                        </a:defRPr>
                      </a:pPr>
                      <a:r>
                        <a:t>0.0%</a:t>
                      </a:r>
                    </a:p>
                  </a:txBody>
                  <a:tcPr/>
                </a:tc>
                <a:tc>
                  <a:txBody>
                    <a:bodyPr/>
                    <a:lstStyle/>
                    <a:p>
                      <a:pPr>
                        <a:defRPr sz="700" b="1">
                          <a:solidFill>
                            <a:srgbClr val="DC2626"/>
                          </a:solidFill>
                        </a:defRPr>
                      </a:pPr>
                      <a:r>
                        <a:t>DEPLOY IMMEDIATELY</a:t>
                      </a:r>
                    </a:p>
                  </a:txBody>
                  <a:tcPr/>
                </a:tc>
              </a:tr>
              <a:tr h="200025">
                <a:tc>
                  <a:txBody>
                    <a:bodyPr/>
                    <a:lstStyle/>
                    <a:p>
                      <a:pPr>
                        <a:defRPr sz="700">
                          <a:solidFill>
                            <a:srgbClr val="1A1A2E"/>
                          </a:solidFill>
                        </a:defRPr>
                      </a:pPr>
                      <a:r>
                        <a:t>Ekspozitura Bregu i Diellit</a:t>
                      </a:r>
                    </a:p>
                  </a:txBody>
                  <a:tcPr/>
                </a:tc>
                <a:tc>
                  <a:txBody>
                    <a:bodyPr/>
                    <a:lstStyle/>
                    <a:p>
                      <a:pPr>
                        <a:defRPr sz="700">
                          <a:solidFill>
                            <a:srgbClr val="1A1A2E"/>
                          </a:solidFill>
                        </a:defRPr>
                      </a:pPr>
                      <a:r>
                        <a:t>Prishtine</a:t>
                      </a:r>
                    </a:p>
                  </a:txBody>
                  <a:tcPr/>
                </a:tc>
                <a:tc>
                  <a:txBody>
                    <a:bodyPr/>
                    <a:lstStyle/>
                    <a:p>
                      <a:pPr>
                        <a:defRPr sz="700">
                          <a:solidFill>
                            <a:srgbClr val="1A1A2E"/>
                          </a:solidFill>
                        </a:defRPr>
                      </a:pPr>
                      <a:r>
                        <a:t>0</a:t>
                      </a:r>
                    </a:p>
                  </a:txBody>
                  <a:tcPr/>
                </a:tc>
                <a:tc>
                  <a:txBody>
                    <a:bodyPr/>
                    <a:lstStyle/>
                    <a:p>
                      <a:pPr>
                        <a:defRPr sz="700">
                          <a:solidFill>
                            <a:srgbClr val="1A1A2E"/>
                          </a:solidFill>
                        </a:defRPr>
                      </a:pPr>
                      <a:r>
                        <a:t>21,396</a:t>
                      </a:r>
                    </a:p>
                  </a:txBody>
                  <a:tcPr/>
                </a:tc>
                <a:tc>
                  <a:txBody>
                    <a:bodyPr/>
                    <a:lstStyle/>
                    <a:p>
                      <a:pPr>
                        <a:defRPr sz="700" b="1">
                          <a:solidFill>
                            <a:srgbClr val="DC2626"/>
                          </a:solidFill>
                        </a:defRPr>
                      </a:pPr>
                      <a:r>
                        <a:t>0.0%</a:t>
                      </a:r>
                    </a:p>
                  </a:txBody>
                  <a:tcPr/>
                </a:tc>
                <a:tc>
                  <a:txBody>
                    <a:bodyPr/>
                    <a:lstStyle/>
                    <a:p>
                      <a:pPr>
                        <a:defRPr sz="700" b="1">
                          <a:solidFill>
                            <a:srgbClr val="DC2626"/>
                          </a:solidFill>
                        </a:defRPr>
                      </a:pPr>
                      <a:r>
                        <a:t>DEPLOY IMMEDIATELY</a:t>
                      </a:r>
                    </a:p>
                  </a:txBody>
                  <a:tcPr/>
                </a:tc>
              </a:tr>
              <a:tr h="200025">
                <a:tc>
                  <a:txBody>
                    <a:bodyPr/>
                    <a:lstStyle/>
                    <a:p>
                      <a:pPr>
                        <a:defRPr sz="700">
                          <a:solidFill>
                            <a:srgbClr val="1A1A2E"/>
                          </a:solidFill>
                        </a:defRPr>
                      </a:pPr>
                      <a:r>
                        <a:t>Filiali 1001 Prishtine</a:t>
                      </a:r>
                    </a:p>
                  </a:txBody>
                  <a:tcPr/>
                </a:tc>
                <a:tc>
                  <a:txBody>
                    <a:bodyPr/>
                    <a:lstStyle/>
                    <a:p>
                      <a:pPr>
                        <a:defRPr sz="700">
                          <a:solidFill>
                            <a:srgbClr val="1A1A2E"/>
                          </a:solidFill>
                        </a:defRPr>
                      </a:pPr>
                      <a:r>
                        <a:t>Prishtine</a:t>
                      </a:r>
                    </a:p>
                  </a:txBody>
                  <a:tcPr/>
                </a:tc>
                <a:tc>
                  <a:txBody>
                    <a:bodyPr/>
                    <a:lstStyle/>
                    <a:p>
                      <a:pPr>
                        <a:defRPr sz="700">
                          <a:solidFill>
                            <a:srgbClr val="1A1A2E"/>
                          </a:solidFill>
                        </a:defRPr>
                      </a:pPr>
                      <a:r>
                        <a:t>0</a:t>
                      </a:r>
                    </a:p>
                  </a:txBody>
                  <a:tcPr/>
                </a:tc>
                <a:tc>
                  <a:txBody>
                    <a:bodyPr/>
                    <a:lstStyle/>
                    <a:p>
                      <a:pPr>
                        <a:defRPr sz="700">
                          <a:solidFill>
                            <a:srgbClr val="1A1A2E"/>
                          </a:solidFill>
                        </a:defRPr>
                      </a:pPr>
                      <a:r>
                        <a:t>21,396</a:t>
                      </a:r>
                    </a:p>
                  </a:txBody>
                  <a:tcPr/>
                </a:tc>
                <a:tc>
                  <a:txBody>
                    <a:bodyPr/>
                    <a:lstStyle/>
                    <a:p>
                      <a:pPr>
                        <a:defRPr sz="700" b="1">
                          <a:solidFill>
                            <a:srgbClr val="DC2626"/>
                          </a:solidFill>
                        </a:defRPr>
                      </a:pPr>
                      <a:r>
                        <a:t>0.0%</a:t>
                      </a:r>
                    </a:p>
                  </a:txBody>
                  <a:tcPr/>
                </a:tc>
                <a:tc>
                  <a:txBody>
                    <a:bodyPr/>
                    <a:lstStyle/>
                    <a:p>
                      <a:pPr>
                        <a:defRPr sz="700" b="1">
                          <a:solidFill>
                            <a:srgbClr val="DC2626"/>
                          </a:solidFill>
                        </a:defRPr>
                      </a:pPr>
                      <a:r>
                        <a:t>DEPLOY IMMEDIATELY</a:t>
                      </a:r>
                    </a:p>
                  </a:txBody>
                  <a:tcPr/>
                </a:tc>
              </a:tr>
              <a:tr h="200025">
                <a:tc>
                  <a:txBody>
                    <a:bodyPr/>
                    <a:lstStyle/>
                    <a:p>
                      <a:pPr>
                        <a:defRPr sz="700">
                          <a:solidFill>
                            <a:srgbClr val="1A1A2E"/>
                          </a:solidFill>
                        </a:defRPr>
                      </a:pPr>
                      <a:r>
                        <a:t>Ekspozitura Prizren 2</a:t>
                      </a:r>
                    </a:p>
                  </a:txBody>
                  <a:tcPr/>
                </a:tc>
                <a:tc>
                  <a:txBody>
                    <a:bodyPr/>
                    <a:lstStyle/>
                    <a:p>
                      <a:pPr>
                        <a:defRPr sz="700">
                          <a:solidFill>
                            <a:srgbClr val="1A1A2E"/>
                          </a:solidFill>
                        </a:defRPr>
                      </a:pPr>
                      <a:r>
                        <a:t>Prizren</a:t>
                      </a:r>
                    </a:p>
                  </a:txBody>
                  <a:tcPr/>
                </a:tc>
                <a:tc>
                  <a:txBody>
                    <a:bodyPr/>
                    <a:lstStyle/>
                    <a:p>
                      <a:pPr>
                        <a:defRPr sz="700">
                          <a:solidFill>
                            <a:srgbClr val="1A1A2E"/>
                          </a:solidFill>
                        </a:defRPr>
                      </a:pPr>
                      <a:r>
                        <a:t>0</a:t>
                      </a:r>
                    </a:p>
                  </a:txBody>
                  <a:tcPr/>
                </a:tc>
                <a:tc>
                  <a:txBody>
                    <a:bodyPr/>
                    <a:lstStyle/>
                    <a:p>
                      <a:pPr>
                        <a:defRPr sz="700">
                          <a:solidFill>
                            <a:srgbClr val="1A1A2E"/>
                          </a:solidFill>
                        </a:defRPr>
                      </a:pPr>
                      <a:r>
                        <a:t>7,119</a:t>
                      </a:r>
                    </a:p>
                  </a:txBody>
                  <a:tcPr/>
                </a:tc>
                <a:tc>
                  <a:txBody>
                    <a:bodyPr/>
                    <a:lstStyle/>
                    <a:p>
                      <a:pPr>
                        <a:defRPr sz="700" b="1">
                          <a:solidFill>
                            <a:srgbClr val="DC2626"/>
                          </a:solidFill>
                        </a:defRPr>
                      </a:pPr>
                      <a:r>
                        <a:t>0.0%</a:t>
                      </a:r>
                    </a:p>
                  </a:txBody>
                  <a:tcPr/>
                </a:tc>
                <a:tc>
                  <a:txBody>
                    <a:bodyPr/>
                    <a:lstStyle/>
                    <a:p>
                      <a:pPr>
                        <a:defRPr sz="700" b="1">
                          <a:solidFill>
                            <a:srgbClr val="DC2626"/>
                          </a:solidFill>
                        </a:defRPr>
                      </a:pPr>
                      <a:r>
                        <a:t>DEPLOY IMMEDIATELY</a:t>
                      </a:r>
                    </a:p>
                  </a:txBody>
                  <a:tcPr/>
                </a:tc>
              </a:tr>
              <a:tr h="200025">
                <a:tc>
                  <a:txBody>
                    <a:bodyPr/>
                    <a:lstStyle/>
                    <a:p>
                      <a:pPr>
                        <a:defRPr sz="700">
                          <a:solidFill>
                            <a:srgbClr val="1A1A2E"/>
                          </a:solidFill>
                        </a:defRPr>
                      </a:pPr>
                      <a:r>
                        <a:t>Ekspozitura Mitrovice 2</a:t>
                      </a:r>
                    </a:p>
                  </a:txBody>
                  <a:tcPr/>
                </a:tc>
                <a:tc>
                  <a:txBody>
                    <a:bodyPr/>
                    <a:lstStyle/>
                    <a:p>
                      <a:pPr>
                        <a:defRPr sz="700">
                          <a:solidFill>
                            <a:srgbClr val="1A1A2E"/>
                          </a:solidFill>
                        </a:defRPr>
                      </a:pPr>
                      <a:r>
                        <a:t>Mitrovice</a:t>
                      </a:r>
                    </a:p>
                  </a:txBody>
                  <a:tcPr/>
                </a:tc>
                <a:tc>
                  <a:txBody>
                    <a:bodyPr/>
                    <a:lstStyle/>
                    <a:p>
                      <a:pPr>
                        <a:defRPr sz="700">
                          <a:solidFill>
                            <a:srgbClr val="1A1A2E"/>
                          </a:solidFill>
                        </a:defRPr>
                      </a:pPr>
                      <a:r>
                        <a:t>0</a:t>
                      </a:r>
                    </a:p>
                  </a:txBody>
                  <a:tcPr/>
                </a:tc>
                <a:tc>
                  <a:txBody>
                    <a:bodyPr/>
                    <a:lstStyle/>
                    <a:p>
                      <a:pPr>
                        <a:defRPr sz="700">
                          <a:solidFill>
                            <a:srgbClr val="1A1A2E"/>
                          </a:solidFill>
                        </a:defRPr>
                      </a:pPr>
                      <a:r>
                        <a:t>2,529</a:t>
                      </a:r>
                    </a:p>
                  </a:txBody>
                  <a:tcPr/>
                </a:tc>
                <a:tc>
                  <a:txBody>
                    <a:bodyPr/>
                    <a:lstStyle/>
                    <a:p>
                      <a:pPr>
                        <a:defRPr sz="700" b="1">
                          <a:solidFill>
                            <a:srgbClr val="DC2626"/>
                          </a:solidFill>
                        </a:defRPr>
                      </a:pPr>
                      <a:r>
                        <a:t>0.0%</a:t>
                      </a:r>
                    </a:p>
                  </a:txBody>
                  <a:tcPr/>
                </a:tc>
                <a:tc>
                  <a:txBody>
                    <a:bodyPr/>
                    <a:lstStyle/>
                    <a:p>
                      <a:pPr>
                        <a:defRPr sz="700" b="1">
                          <a:solidFill>
                            <a:srgbClr val="DC2626"/>
                          </a:solidFill>
                        </a:defRPr>
                      </a:pPr>
                      <a:r>
                        <a:t>DEPLOY IMMEDIATELY</a:t>
                      </a:r>
                    </a:p>
                  </a:txBody>
                  <a:tcPr/>
                </a:tc>
              </a:tr>
              <a:tr h="200025">
                <a:tc>
                  <a:txBody>
                    <a:bodyPr/>
                    <a:lstStyle/>
                    <a:p>
                      <a:pPr>
                        <a:defRPr sz="700">
                          <a:solidFill>
                            <a:srgbClr val="1A1A2E"/>
                          </a:solidFill>
                        </a:defRPr>
                      </a:pPr>
                      <a:r>
                        <a:t>Ekspozitura Gracanice</a:t>
                      </a:r>
                    </a:p>
                  </a:txBody>
                  <a:tcPr/>
                </a:tc>
                <a:tc>
                  <a:txBody>
                    <a:bodyPr/>
                    <a:lstStyle/>
                    <a:p>
                      <a:pPr>
                        <a:defRPr sz="700">
                          <a:solidFill>
                            <a:srgbClr val="1A1A2E"/>
                          </a:solidFill>
                        </a:defRPr>
                      </a:pPr>
                      <a:r>
                        <a:t>Gracanice</a:t>
                      </a:r>
                    </a:p>
                  </a:txBody>
                  <a:tcPr/>
                </a:tc>
                <a:tc>
                  <a:txBody>
                    <a:bodyPr/>
                    <a:lstStyle/>
                    <a:p>
                      <a:pPr>
                        <a:defRPr sz="700">
                          <a:solidFill>
                            <a:srgbClr val="1A1A2E"/>
                          </a:solidFill>
                        </a:defRPr>
                      </a:pPr>
                      <a:r>
                        <a:t>6</a:t>
                      </a:r>
                    </a:p>
                  </a:txBody>
                  <a:tcPr/>
                </a:tc>
                <a:tc>
                  <a:txBody>
                    <a:bodyPr/>
                    <a:lstStyle/>
                    <a:p>
                      <a:pPr>
                        <a:defRPr sz="700">
                          <a:solidFill>
                            <a:srgbClr val="1A1A2E"/>
                          </a:solidFill>
                        </a:defRPr>
                      </a:pPr>
                      <a:r>
                        <a:t>944</a:t>
                      </a:r>
                    </a:p>
                  </a:txBody>
                  <a:tcPr/>
                </a:tc>
                <a:tc>
                  <a:txBody>
                    <a:bodyPr/>
                    <a:lstStyle/>
                    <a:p>
                      <a:pPr>
                        <a:defRPr sz="700">
                          <a:solidFill>
                            <a:srgbClr val="1A1A2E"/>
                          </a:solidFill>
                        </a:defRPr>
                      </a:pPr>
                      <a:r>
                        <a:t>0.6%</a:t>
                      </a:r>
                    </a:p>
                  </a:txBody>
                  <a:tcPr/>
                </a:tc>
                <a:tc>
                  <a:txBody>
                    <a:bodyPr/>
                    <a:lstStyle/>
                    <a:p>
                      <a:pPr>
                        <a:defRPr sz="700" b="1">
                          <a:solidFill>
                            <a:srgbClr val="D97706"/>
                          </a:solidFill>
                        </a:defRPr>
                      </a:pPr>
                      <a:r>
                        <a:t>ACCELERATE</a:t>
                      </a:r>
                    </a:p>
                  </a:txBody>
                  <a:tcPr/>
                </a:tc>
              </a:tr>
              <a:tr h="200025">
                <a:tc>
                  <a:txBody>
                    <a:bodyPr/>
                    <a:lstStyle/>
                    <a:p>
                      <a:pPr>
                        <a:defRPr sz="700">
                          <a:solidFill>
                            <a:srgbClr val="1A1A2E"/>
                          </a:solidFill>
                        </a:defRPr>
                      </a:pPr>
                      <a:r>
                        <a:t>Filiali Gjakove</a:t>
                      </a:r>
                    </a:p>
                  </a:txBody>
                  <a:tcPr/>
                </a:tc>
                <a:tc>
                  <a:txBody>
                    <a:bodyPr/>
                    <a:lstStyle/>
                    <a:p>
                      <a:pPr>
                        <a:defRPr sz="700">
                          <a:solidFill>
                            <a:srgbClr val="1A1A2E"/>
                          </a:solidFill>
                        </a:defRPr>
                      </a:pPr>
                      <a:r>
                        <a:t>Gjakove</a:t>
                      </a:r>
                    </a:p>
                  </a:txBody>
                  <a:tcPr/>
                </a:tc>
                <a:tc>
                  <a:txBody>
                    <a:bodyPr/>
                    <a:lstStyle/>
                    <a:p>
                      <a:pPr>
                        <a:defRPr sz="700">
                          <a:solidFill>
                            <a:srgbClr val="1A1A2E"/>
                          </a:solidFill>
                        </a:defRPr>
                      </a:pPr>
                      <a:r>
                        <a:t>60</a:t>
                      </a:r>
                    </a:p>
                  </a:txBody>
                  <a:tcPr/>
                </a:tc>
                <a:tc>
                  <a:txBody>
                    <a:bodyPr/>
                    <a:lstStyle/>
                    <a:p>
                      <a:pPr>
                        <a:defRPr sz="700">
                          <a:solidFill>
                            <a:srgbClr val="1A1A2E"/>
                          </a:solidFill>
                        </a:defRPr>
                      </a:pPr>
                      <a:r>
                        <a:t>4,005</a:t>
                      </a:r>
                    </a:p>
                  </a:txBody>
                  <a:tcPr/>
                </a:tc>
                <a:tc>
                  <a:txBody>
                    <a:bodyPr/>
                    <a:lstStyle/>
                    <a:p>
                      <a:pPr>
                        <a:defRPr sz="700">
                          <a:solidFill>
                            <a:srgbClr val="1A1A2E"/>
                          </a:solidFill>
                        </a:defRPr>
                      </a:pPr>
                      <a:r>
                        <a:t>1.5%</a:t>
                      </a:r>
                    </a:p>
                  </a:txBody>
                  <a:tcPr/>
                </a:tc>
                <a:tc>
                  <a:txBody>
                    <a:bodyPr/>
                    <a:lstStyle/>
                    <a:p>
                      <a:pPr>
                        <a:defRPr sz="700" b="1">
                          <a:solidFill>
                            <a:srgbClr val="D97706"/>
                          </a:solidFill>
                        </a:defRPr>
                      </a:pPr>
                      <a:r>
                        <a:t>ACCELERATE</a:t>
                      </a:r>
                    </a:p>
                  </a:txBody>
                  <a:tcPr/>
                </a:tc>
              </a:tr>
              <a:tr h="200025">
                <a:tc>
                  <a:txBody>
                    <a:bodyPr/>
                    <a:lstStyle/>
                    <a:p>
                      <a:pPr>
                        <a:defRPr sz="700">
                          <a:solidFill>
                            <a:srgbClr val="1A1A2E"/>
                          </a:solidFill>
                        </a:defRPr>
                      </a:pPr>
                      <a:r>
                        <a:t>Ekspozitura Suhareke</a:t>
                      </a:r>
                    </a:p>
                  </a:txBody>
                  <a:tcPr/>
                </a:tc>
                <a:tc>
                  <a:txBody>
                    <a:bodyPr/>
                    <a:lstStyle/>
                    <a:p>
                      <a:pPr>
                        <a:defRPr sz="700">
                          <a:solidFill>
                            <a:srgbClr val="1A1A2E"/>
                          </a:solidFill>
                        </a:defRPr>
                      </a:pPr>
                      <a:r>
                        <a:t>Suhareke</a:t>
                      </a:r>
                    </a:p>
                  </a:txBody>
                  <a:tcPr/>
                </a:tc>
                <a:tc>
                  <a:txBody>
                    <a:bodyPr/>
                    <a:lstStyle/>
                    <a:p>
                      <a:pPr>
                        <a:defRPr sz="700">
                          <a:solidFill>
                            <a:srgbClr val="1A1A2E"/>
                          </a:solidFill>
                        </a:defRPr>
                      </a:pPr>
                      <a:r>
                        <a:t>33</a:t>
                      </a:r>
                    </a:p>
                  </a:txBody>
                  <a:tcPr/>
                </a:tc>
                <a:tc>
                  <a:txBody>
                    <a:bodyPr/>
                    <a:lstStyle/>
                    <a:p>
                      <a:pPr>
                        <a:defRPr sz="700">
                          <a:solidFill>
                            <a:srgbClr val="1A1A2E"/>
                          </a:solidFill>
                        </a:defRPr>
                      </a:pPr>
                      <a:r>
                        <a:t>2,085</a:t>
                      </a:r>
                    </a:p>
                  </a:txBody>
                  <a:tcPr/>
                </a:tc>
                <a:tc>
                  <a:txBody>
                    <a:bodyPr/>
                    <a:lstStyle/>
                    <a:p>
                      <a:pPr>
                        <a:defRPr sz="700">
                          <a:solidFill>
                            <a:srgbClr val="1A1A2E"/>
                          </a:solidFill>
                        </a:defRPr>
                      </a:pPr>
                      <a:r>
                        <a:t>1.6%</a:t>
                      </a:r>
                    </a:p>
                  </a:txBody>
                  <a:tcPr/>
                </a:tc>
                <a:tc>
                  <a:txBody>
                    <a:bodyPr/>
                    <a:lstStyle/>
                    <a:p>
                      <a:pPr>
                        <a:defRPr sz="700" b="1">
                          <a:solidFill>
                            <a:srgbClr val="D97706"/>
                          </a:solidFill>
                        </a:defRPr>
                      </a:pPr>
                      <a:r>
                        <a:t>ACCELERATE</a:t>
                      </a:r>
                    </a:p>
                  </a:txBody>
                  <a:tcPr/>
                </a:tc>
              </a:tr>
              <a:tr h="200025">
                <a:tc>
                  <a:txBody>
                    <a:bodyPr/>
                    <a:lstStyle/>
                    <a:p>
                      <a:pPr>
                        <a:defRPr sz="700">
                          <a:solidFill>
                            <a:srgbClr val="1A1A2E"/>
                          </a:solidFill>
                        </a:defRPr>
                      </a:pPr>
                      <a:r>
                        <a:t>Ekspozitura Obiliq</a:t>
                      </a:r>
                    </a:p>
                  </a:txBody>
                  <a:tcPr/>
                </a:tc>
                <a:tc>
                  <a:txBody>
                    <a:bodyPr/>
                    <a:lstStyle/>
                    <a:p>
                      <a:pPr>
                        <a:defRPr sz="700">
                          <a:solidFill>
                            <a:srgbClr val="1A1A2E"/>
                          </a:solidFill>
                        </a:defRPr>
                      </a:pPr>
                      <a:r>
                        <a:t>Obiliq</a:t>
                      </a:r>
                    </a:p>
                  </a:txBody>
                  <a:tcPr/>
                </a:tc>
                <a:tc>
                  <a:txBody>
                    <a:bodyPr/>
                    <a:lstStyle/>
                    <a:p>
                      <a:pPr>
                        <a:defRPr sz="700">
                          <a:solidFill>
                            <a:srgbClr val="1A1A2E"/>
                          </a:solidFill>
                        </a:defRPr>
                      </a:pPr>
                      <a:r>
                        <a:t>11</a:t>
                      </a:r>
                    </a:p>
                  </a:txBody>
                  <a:tcPr/>
                </a:tc>
                <a:tc>
                  <a:txBody>
                    <a:bodyPr/>
                    <a:lstStyle/>
                    <a:p>
                      <a:pPr>
                        <a:defRPr sz="700">
                          <a:solidFill>
                            <a:srgbClr val="1A1A2E"/>
                          </a:solidFill>
                        </a:defRPr>
                      </a:pPr>
                      <a:r>
                        <a:t>683</a:t>
                      </a:r>
                    </a:p>
                  </a:txBody>
                  <a:tcPr/>
                </a:tc>
                <a:tc>
                  <a:txBody>
                    <a:bodyPr/>
                    <a:lstStyle/>
                    <a:p>
                      <a:pPr>
                        <a:defRPr sz="700">
                          <a:solidFill>
                            <a:srgbClr val="1A1A2E"/>
                          </a:solidFill>
                        </a:defRPr>
                      </a:pPr>
                      <a:r>
                        <a:t>1.6%</a:t>
                      </a:r>
                    </a:p>
                  </a:txBody>
                  <a:tcPr/>
                </a:tc>
                <a:tc>
                  <a:txBody>
                    <a:bodyPr/>
                    <a:lstStyle/>
                    <a:p>
                      <a:pPr>
                        <a:defRPr sz="700" b="1">
                          <a:solidFill>
                            <a:srgbClr val="D97706"/>
                          </a:solidFill>
                        </a:defRPr>
                      </a:pPr>
                      <a:r>
                        <a:t>ACCELERATE</a:t>
                      </a:r>
                    </a:p>
                  </a:txBody>
                  <a:tcPr/>
                </a:tc>
              </a:tr>
              <a:tr h="200025">
                <a:tc>
                  <a:txBody>
                    <a:bodyPr/>
                    <a:lstStyle/>
                    <a:p>
                      <a:pPr>
                        <a:defRPr sz="700">
                          <a:solidFill>
                            <a:srgbClr val="1A1A2E"/>
                          </a:solidFill>
                        </a:defRPr>
                      </a:pPr>
                      <a:r>
                        <a:t>Filiali Ferizaj</a:t>
                      </a:r>
                    </a:p>
                  </a:txBody>
                  <a:tcPr/>
                </a:tc>
                <a:tc>
                  <a:txBody>
                    <a:bodyPr/>
                    <a:lstStyle/>
                    <a:p>
                      <a:pPr>
                        <a:defRPr sz="700">
                          <a:solidFill>
                            <a:srgbClr val="1A1A2E"/>
                          </a:solidFill>
                        </a:defRPr>
                      </a:pPr>
                      <a:r>
                        <a:t>Ferizaj</a:t>
                      </a:r>
                    </a:p>
                  </a:txBody>
                  <a:tcPr/>
                </a:tc>
                <a:tc>
                  <a:txBody>
                    <a:bodyPr/>
                    <a:lstStyle/>
                    <a:p>
                      <a:pPr>
                        <a:defRPr sz="700">
                          <a:solidFill>
                            <a:srgbClr val="1A1A2E"/>
                          </a:solidFill>
                        </a:defRPr>
                      </a:pPr>
                      <a:r>
                        <a:t>107</a:t>
                      </a:r>
                    </a:p>
                  </a:txBody>
                  <a:tcPr/>
                </a:tc>
                <a:tc>
                  <a:txBody>
                    <a:bodyPr/>
                    <a:lstStyle/>
                    <a:p>
                      <a:pPr>
                        <a:defRPr sz="700">
                          <a:solidFill>
                            <a:srgbClr val="1A1A2E"/>
                          </a:solidFill>
                        </a:defRPr>
                      </a:pPr>
                      <a:r>
                        <a:t>6,371</a:t>
                      </a:r>
                    </a:p>
                  </a:txBody>
                  <a:tcPr/>
                </a:tc>
                <a:tc>
                  <a:txBody>
                    <a:bodyPr/>
                    <a:lstStyle/>
                    <a:p>
                      <a:pPr>
                        <a:defRPr sz="700">
                          <a:solidFill>
                            <a:srgbClr val="1A1A2E"/>
                          </a:solidFill>
                        </a:defRPr>
                      </a:pPr>
                      <a:r>
                        <a:t>1.7%</a:t>
                      </a:r>
                    </a:p>
                  </a:txBody>
                  <a:tcPr/>
                </a:tc>
                <a:tc>
                  <a:txBody>
                    <a:bodyPr/>
                    <a:lstStyle/>
                    <a:p>
                      <a:pPr>
                        <a:defRPr sz="700" b="1">
                          <a:solidFill>
                            <a:srgbClr val="D97706"/>
                          </a:solidFill>
                        </a:defRPr>
                      </a:pPr>
                      <a:r>
                        <a:t>ACCELERATE</a:t>
                      </a:r>
                    </a:p>
                  </a:txBody>
                  <a:tcPr/>
                </a:tc>
              </a:tr>
              <a:tr h="200025">
                <a:tc>
                  <a:txBody>
                    <a:bodyPr/>
                    <a:lstStyle/>
                    <a:p>
                      <a:pPr>
                        <a:defRPr sz="700">
                          <a:solidFill>
                            <a:srgbClr val="1A1A2E"/>
                          </a:solidFill>
                        </a:defRPr>
                      </a:pPr>
                      <a:r>
                        <a:t>Filiali Besiane</a:t>
                      </a:r>
                    </a:p>
                  </a:txBody>
                  <a:tcPr/>
                </a:tc>
                <a:tc>
                  <a:txBody>
                    <a:bodyPr/>
                    <a:lstStyle/>
                    <a:p>
                      <a:pPr>
                        <a:defRPr sz="700">
                          <a:solidFill>
                            <a:srgbClr val="1A1A2E"/>
                          </a:solidFill>
                        </a:defRPr>
                      </a:pPr>
                      <a:r>
                        <a:t>Podujeve</a:t>
                      </a:r>
                    </a:p>
                  </a:txBody>
                  <a:tcPr/>
                </a:tc>
                <a:tc>
                  <a:txBody>
                    <a:bodyPr/>
                    <a:lstStyle/>
                    <a:p>
                      <a:pPr>
                        <a:defRPr sz="700">
                          <a:solidFill>
                            <a:srgbClr val="1A1A2E"/>
                          </a:solidFill>
                        </a:defRPr>
                      </a:pPr>
                      <a:r>
                        <a:t>45</a:t>
                      </a:r>
                    </a:p>
                  </a:txBody>
                  <a:tcPr/>
                </a:tc>
                <a:tc>
                  <a:txBody>
                    <a:bodyPr/>
                    <a:lstStyle/>
                    <a:p>
                      <a:pPr>
                        <a:defRPr sz="700">
                          <a:solidFill>
                            <a:srgbClr val="1A1A2E"/>
                          </a:solidFill>
                        </a:defRPr>
                      </a:pPr>
                      <a:r>
                        <a:t>2,381</a:t>
                      </a:r>
                    </a:p>
                  </a:txBody>
                  <a:tcPr/>
                </a:tc>
                <a:tc>
                  <a:txBody>
                    <a:bodyPr/>
                    <a:lstStyle/>
                    <a:p>
                      <a:pPr>
                        <a:defRPr sz="700">
                          <a:solidFill>
                            <a:srgbClr val="1A1A2E"/>
                          </a:solidFill>
                        </a:defRPr>
                      </a:pPr>
                      <a:r>
                        <a:t>1.9%</a:t>
                      </a:r>
                    </a:p>
                  </a:txBody>
                  <a:tcPr/>
                </a:tc>
                <a:tc>
                  <a:txBody>
                    <a:bodyPr/>
                    <a:lstStyle/>
                    <a:p>
                      <a:pPr>
                        <a:defRPr sz="700" b="1">
                          <a:solidFill>
                            <a:srgbClr val="D97706"/>
                          </a:solidFill>
                        </a:defRPr>
                      </a:pPr>
                      <a:r>
                        <a:t>ACCELERATE</a:t>
                      </a:r>
                    </a:p>
                  </a:txBody>
                  <a:tcPr/>
                </a:tc>
              </a:tr>
              <a:tr h="200025">
                <a:tc>
                  <a:txBody>
                    <a:bodyPr/>
                    <a:lstStyle/>
                    <a:p>
                      <a:pPr>
                        <a:defRPr sz="700">
                          <a:solidFill>
                            <a:srgbClr val="1A1A2E"/>
                          </a:solidFill>
                        </a:defRPr>
                      </a:pPr>
                      <a:r>
                        <a:t>Filiali Prizren</a:t>
                      </a:r>
                    </a:p>
                  </a:txBody>
                  <a:tcPr/>
                </a:tc>
                <a:tc>
                  <a:txBody>
                    <a:bodyPr/>
                    <a:lstStyle/>
                    <a:p>
                      <a:pPr>
                        <a:defRPr sz="700">
                          <a:solidFill>
                            <a:srgbClr val="1A1A2E"/>
                          </a:solidFill>
                        </a:defRPr>
                      </a:pPr>
                      <a:r>
                        <a:t>Prizren</a:t>
                      </a:r>
                    </a:p>
                  </a:txBody>
                  <a:tcPr/>
                </a:tc>
                <a:tc>
                  <a:txBody>
                    <a:bodyPr/>
                    <a:lstStyle/>
                    <a:p>
                      <a:pPr>
                        <a:defRPr sz="700">
                          <a:solidFill>
                            <a:srgbClr val="1A1A2E"/>
                          </a:solidFill>
                        </a:defRPr>
                      </a:pPr>
                      <a:r>
                        <a:t>156</a:t>
                      </a:r>
                    </a:p>
                  </a:txBody>
                  <a:tcPr/>
                </a:tc>
                <a:tc>
                  <a:txBody>
                    <a:bodyPr/>
                    <a:lstStyle/>
                    <a:p>
                      <a:pPr>
                        <a:defRPr sz="700">
                          <a:solidFill>
                            <a:srgbClr val="1A1A2E"/>
                          </a:solidFill>
                        </a:defRPr>
                      </a:pPr>
                      <a:r>
                        <a:t>7,119</a:t>
                      </a:r>
                    </a:p>
                  </a:txBody>
                  <a:tcPr/>
                </a:tc>
                <a:tc>
                  <a:txBody>
                    <a:bodyPr/>
                    <a:lstStyle/>
                    <a:p>
                      <a:pPr>
                        <a:defRPr sz="700">
                          <a:solidFill>
                            <a:srgbClr val="1A1A2E"/>
                          </a:solidFill>
                        </a:defRPr>
                      </a:pPr>
                      <a:r>
                        <a:t>2.2%</a:t>
                      </a:r>
                    </a:p>
                  </a:txBody>
                  <a:tcPr/>
                </a:tc>
                <a:tc>
                  <a:txBody>
                    <a:bodyPr/>
                    <a:lstStyle/>
                    <a:p>
                      <a:pPr>
                        <a:defRPr sz="700" b="1">
                          <a:solidFill>
                            <a:srgbClr val="059669"/>
                          </a:solidFill>
                        </a:defRPr>
                      </a:pPr>
                      <a:r>
                        <a:t>GROW</a:t>
                      </a:r>
                    </a:p>
                  </a:txBody>
                  <a:tcPr/>
                </a:tc>
              </a:tr>
              <a:tr h="200025">
                <a:tc>
                  <a:txBody>
                    <a:bodyPr/>
                    <a:lstStyle/>
                    <a:p>
                      <a:pPr>
                        <a:defRPr sz="700">
                          <a:solidFill>
                            <a:srgbClr val="1A1A2E"/>
                          </a:solidFill>
                        </a:defRPr>
                      </a:pPr>
                      <a:r>
                        <a:t>Ekspozitura Rahovec</a:t>
                      </a:r>
                    </a:p>
                  </a:txBody>
                  <a:tcPr/>
                </a:tc>
                <a:tc>
                  <a:txBody>
                    <a:bodyPr/>
                    <a:lstStyle/>
                    <a:p>
                      <a:pPr>
                        <a:defRPr sz="700">
                          <a:solidFill>
                            <a:srgbClr val="1A1A2E"/>
                          </a:solidFill>
                        </a:defRPr>
                      </a:pPr>
                      <a:r>
                        <a:t>Rahovec</a:t>
                      </a:r>
                    </a:p>
                  </a:txBody>
                  <a:tcPr/>
                </a:tc>
                <a:tc>
                  <a:txBody>
                    <a:bodyPr/>
                    <a:lstStyle/>
                    <a:p>
                      <a:pPr>
                        <a:defRPr sz="700">
                          <a:solidFill>
                            <a:srgbClr val="1A1A2E"/>
                          </a:solidFill>
                        </a:defRPr>
                      </a:pPr>
                      <a:r>
                        <a:t>43</a:t>
                      </a:r>
                    </a:p>
                  </a:txBody>
                  <a:tcPr/>
                </a:tc>
                <a:tc>
                  <a:txBody>
                    <a:bodyPr/>
                    <a:lstStyle/>
                    <a:p>
                      <a:pPr>
                        <a:defRPr sz="700">
                          <a:solidFill>
                            <a:srgbClr val="1A1A2E"/>
                          </a:solidFill>
                        </a:defRPr>
                      </a:pPr>
                      <a:r>
                        <a:t>1,659</a:t>
                      </a:r>
                    </a:p>
                  </a:txBody>
                  <a:tcPr/>
                </a:tc>
                <a:tc>
                  <a:txBody>
                    <a:bodyPr/>
                    <a:lstStyle/>
                    <a:p>
                      <a:pPr>
                        <a:defRPr sz="700">
                          <a:solidFill>
                            <a:srgbClr val="1A1A2E"/>
                          </a:solidFill>
                        </a:defRPr>
                      </a:pPr>
                      <a:r>
                        <a:t>2.6%</a:t>
                      </a:r>
                    </a:p>
                  </a:txBody>
                  <a:tcPr/>
                </a:tc>
                <a:tc>
                  <a:txBody>
                    <a:bodyPr/>
                    <a:lstStyle/>
                    <a:p>
                      <a:pPr>
                        <a:defRPr sz="700" b="1">
                          <a:solidFill>
                            <a:srgbClr val="059669"/>
                          </a:solidFill>
                        </a:defRPr>
                      </a:pPr>
                      <a:r>
                        <a:t>GROW</a:t>
                      </a:r>
                    </a:p>
                  </a:txBody>
                  <a:tcPr/>
                </a:tc>
              </a:tr>
              <a:tr h="200025">
                <a:tc>
                  <a:txBody>
                    <a:bodyPr/>
                    <a:lstStyle/>
                    <a:p>
                      <a:pPr>
                        <a:defRPr sz="700">
                          <a:solidFill>
                            <a:srgbClr val="1A1A2E"/>
                          </a:solidFill>
                        </a:defRPr>
                      </a:pPr>
                      <a:r>
                        <a:t>Filiali Gjilan</a:t>
                      </a:r>
                    </a:p>
                  </a:txBody>
                  <a:tcPr/>
                </a:tc>
                <a:tc>
                  <a:txBody>
                    <a:bodyPr/>
                    <a:lstStyle/>
                    <a:p>
                      <a:pPr>
                        <a:defRPr sz="700">
                          <a:solidFill>
                            <a:srgbClr val="1A1A2E"/>
                          </a:solidFill>
                        </a:defRPr>
                      </a:pPr>
                      <a:r>
                        <a:t>Gjilan</a:t>
                      </a:r>
                    </a:p>
                  </a:txBody>
                  <a:tcPr/>
                </a:tc>
                <a:tc>
                  <a:txBody>
                    <a:bodyPr/>
                    <a:lstStyle/>
                    <a:p>
                      <a:pPr>
                        <a:defRPr sz="700">
                          <a:solidFill>
                            <a:srgbClr val="1A1A2E"/>
                          </a:solidFill>
                        </a:defRPr>
                      </a:pPr>
                      <a:r>
                        <a:t>115</a:t>
                      </a:r>
                    </a:p>
                  </a:txBody>
                  <a:tcPr/>
                </a:tc>
                <a:tc>
                  <a:txBody>
                    <a:bodyPr/>
                    <a:lstStyle/>
                    <a:p>
                      <a:pPr>
                        <a:defRPr sz="700">
                          <a:solidFill>
                            <a:srgbClr val="1A1A2E"/>
                          </a:solidFill>
                        </a:defRPr>
                      </a:pPr>
                      <a:r>
                        <a:t>4,317</a:t>
                      </a:r>
                    </a:p>
                  </a:txBody>
                  <a:tcPr/>
                </a:tc>
                <a:tc>
                  <a:txBody>
                    <a:bodyPr/>
                    <a:lstStyle/>
                    <a:p>
                      <a:pPr>
                        <a:defRPr sz="700">
                          <a:solidFill>
                            <a:srgbClr val="1A1A2E"/>
                          </a:solidFill>
                        </a:defRPr>
                      </a:pPr>
                      <a:r>
                        <a:t>2.7%</a:t>
                      </a:r>
                    </a:p>
                  </a:txBody>
                  <a:tcPr/>
                </a:tc>
                <a:tc>
                  <a:txBody>
                    <a:bodyPr/>
                    <a:lstStyle/>
                    <a:p>
                      <a:pPr>
                        <a:defRPr sz="700" b="1">
                          <a:solidFill>
                            <a:srgbClr val="059669"/>
                          </a:solidFill>
                        </a:defRPr>
                      </a:pPr>
                      <a:r>
                        <a:t>GROW</a:t>
                      </a:r>
                    </a:p>
                  </a:txBody>
                  <a:tcPr/>
                </a:tc>
              </a:tr>
              <a:tr h="200025">
                <a:tc>
                  <a:txBody>
                    <a:bodyPr/>
                    <a:lstStyle/>
                    <a:p>
                      <a:pPr>
                        <a:defRPr sz="700">
                          <a:solidFill>
                            <a:srgbClr val="1A1A2E"/>
                          </a:solidFill>
                        </a:defRPr>
                      </a:pPr>
                      <a:r>
                        <a:t>Ekspozitura Kamenice</a:t>
                      </a:r>
                    </a:p>
                  </a:txBody>
                  <a:tcPr/>
                </a:tc>
                <a:tc>
                  <a:txBody>
                    <a:bodyPr/>
                    <a:lstStyle/>
                    <a:p>
                      <a:pPr>
                        <a:defRPr sz="700">
                          <a:solidFill>
                            <a:srgbClr val="1A1A2E"/>
                          </a:solidFill>
                        </a:defRPr>
                      </a:pPr>
                      <a:r>
                        <a:t>Kamenice</a:t>
                      </a:r>
                    </a:p>
                  </a:txBody>
                  <a:tcPr/>
                </a:tc>
                <a:tc>
                  <a:txBody>
                    <a:bodyPr/>
                    <a:lstStyle/>
                    <a:p>
                      <a:pPr>
                        <a:defRPr sz="700">
                          <a:solidFill>
                            <a:srgbClr val="1A1A2E"/>
                          </a:solidFill>
                        </a:defRPr>
                      </a:pPr>
                      <a:r>
                        <a:t>28</a:t>
                      </a:r>
                    </a:p>
                  </a:txBody>
                  <a:tcPr/>
                </a:tc>
                <a:tc>
                  <a:txBody>
                    <a:bodyPr/>
                    <a:lstStyle/>
                    <a:p>
                      <a:pPr>
                        <a:defRPr sz="700">
                          <a:solidFill>
                            <a:srgbClr val="1A1A2E"/>
                          </a:solidFill>
                        </a:defRPr>
                      </a:pPr>
                      <a:r>
                        <a:t>949</a:t>
                      </a:r>
                    </a:p>
                  </a:txBody>
                  <a:tcPr/>
                </a:tc>
                <a:tc>
                  <a:txBody>
                    <a:bodyPr/>
                    <a:lstStyle/>
                    <a:p>
                      <a:pPr>
                        <a:defRPr sz="700">
                          <a:solidFill>
                            <a:srgbClr val="1A1A2E"/>
                          </a:solidFill>
                        </a:defRPr>
                      </a:pPr>
                      <a:r>
                        <a:t>3.0%</a:t>
                      </a:r>
                    </a:p>
                  </a:txBody>
                  <a:tcPr/>
                </a:tc>
                <a:tc>
                  <a:txBody>
                    <a:bodyPr/>
                    <a:lstStyle/>
                    <a:p>
                      <a:pPr>
                        <a:defRPr sz="700" b="1">
                          <a:solidFill>
                            <a:srgbClr val="059669"/>
                          </a:solidFill>
                        </a:defRPr>
                      </a:pPr>
                      <a:r>
                        <a:t>GROW</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