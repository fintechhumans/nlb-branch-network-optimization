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MARKET POSITION</a:t>
            </a:r>
          </a:p>
          <a:p/>
          <a:p>
            <a:r>
              <a:t>Key points:</a:t>
            </a:r>
          </a:p>
          <a:p>
            <a:r>
              <a:t>- Network PI penetration: 15.7% (239,351 active / 1.52M unique population)</a:t>
            </a:r>
          </a:p>
          <a:p>
            <a:r>
              <a:t>- Only one main Filiali exceeds 18%: Filiali Peje at 18.2%. All other major Filiali below target.</a:t>
            </a:r>
          </a:p>
          <a:p>
            <a:r>
              <a:t>- The 7 defend branches are predominantly small ekspoziture: Hani i Elezit (39.7%), Shterpce (27.5%), Decan (27.1%), Kacanik (21.4%), Gracanice (20.0%), Obiliq (18.1%)</a:t>
            </a:r>
          </a:p>
          <a:p>
            <a:r>
              <a:t>- Peje is the proof point that scale and market dominance can coexist</a:t>
            </a:r>
          </a:p>
          <a:p/>
          <a:p>
            <a:r>
              <a:t>PRISHTINA CITY-LEVEL CONTEXT:</a:t>
            </a:r>
          </a:p>
          <a:p>
            <a:r>
              <a:t>At city level, Prishtina stands at 21.4% PI penetration (48,619 active clients across 227,466 population). This means the city is NOT underpenetrated overall; the issue is internal branch allocation and outlet role clarity, not market weakness. 4 active outlets + 1 ghost branch (100101, 7 FTE, zero output) share this market.</a:t>
            </a:r>
          </a:p>
          <a:p/>
          <a:p>
            <a:r>
              <a:t>Mitrovice Veriore excluded from chart — 116% penetration due to cross-municipality registration. Treated as structural outlier.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ACTION GROUPS</a:t>
            </a:r>
          </a:p>
          <a:p/>
          <a:p>
            <a:r>
              <a:t>PRISHTINA CITY-LEVEL CONTEXT:</a:t>
            </a:r>
          </a:p>
          <a:p>
            <a:r>
              <a:t>At city level, Prishtina stands at 21.4% PI penetration. The city is NOT underpenetrated. The issue is internal branch allocation and outlet role clarity, not market weakness. The ghost branch (100101, 7 FTE, zero output) absorbs 2.6% of total network FTE.</a:t>
            </a:r>
          </a:p>
          <a:p/>
          <a:p>
            <a:r>
              <a:t>KLINE REACTIVATION PILOT:</a:t>
            </a:r>
          </a:p>
          <a:p>
            <a:r>
              <a:t>Kline has the worst active ratio in the network (62.6%). 2,574 inactive vs 4,309 active. If 50% reactivated, pen jumps from 14.1% to ~18.3%. Recommend as the pilot branch for network-wide reactivation program.</a:t>
            </a:r>
          </a:p>
          <a:p/>
          <a:p>
            <a:r>
              <a:t>PRIZREN CITY STRATEGY:</a:t>
            </a:r>
          </a:p>
          <a:p>
            <a:r>
              <a:t>At 10.9% combined (2 branches, 16 FTE, 147K population), Prizren is the most underpenetrated major city. This is not a branch problem — it requires a city-level sales strategy.</a:t>
            </a:r>
          </a:p>
          <a:p/>
          <a:p>
            <a:r>
              <a:t>METHODOLOGY: In multi-branch cities (Prishtina, Prizren, Mitrovice), branch-level pen% is computed against full city population. City-level pen is the correct cross-market comparison. Branch-level is for internal allocation only.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BUSINESS OPPORTUNITY</a:t>
            </a:r>
          </a:p>
          <a:p/>
          <a:p>
            <a:r>
              <a:t>Business penetration is structurally weaker than retail:</a:t>
            </a:r>
          </a:p>
          <a:p>
            <a:r>
              <a:t>- Network biz pen: ~8.5% vs PI pen 15.7%</a:t>
            </a:r>
          </a:p>
          <a:p>
            <a:r>
              <a:t>- Business active ratio: ~58.6% vs PI 73.8%</a:t>
            </a:r>
          </a:p>
          <a:p>
            <a:r>
              <a:t>- Every major Filiali is below 18% in business penetration</a:t>
            </a:r>
          </a:p>
          <a:p/>
          <a:p>
            <a:r>
              <a:t>Largest opportunities by market size:</a:t>
            </a:r>
          </a:p>
          <a:p>
            <a:r>
              <a:t>- Prishtina: 21,396 businesses, 0001 at 10.5%, 1001 at 6.7%</a:t>
            </a:r>
          </a:p>
          <a:p>
            <a:r>
              <a:t>- Prizren: 7,119 businesses at 9.1%</a:t>
            </a:r>
          </a:p>
          <a:p>
            <a:r>
              <a:t>- Ferizaj: 6,371 businesses at 11.4%</a:t>
            </a:r>
          </a:p>
          <a:p>
            <a:r>
              <a:t>- Gjilan: 4,317 businesses at 10.6%</a:t>
            </a:r>
          </a:p>
          <a:p>
            <a:r>
              <a:t>- Gjakove: 4,005 businesses at 10.9%</a:t>
            </a:r>
          </a:p>
          <a:p>
            <a:r>
              <a:t>- Peje: 4,172 businesses at 16.4%</a:t>
            </a:r>
          </a:p>
          <a:p/>
          <a:p>
            <a:r>
              <a:t>DATA QUALITY:</a:t>
            </a:r>
          </a:p>
          <a:p>
            <a:r>
              <a:t>- Active business counts are ESTIMATED from penetration ratio, not directly counted</a:t>
            </a:r>
          </a:p>
          <a:p>
            <a:r>
              <a:t>- Inactive business counts are ESTIMATED from business active ratio</a:t>
            </a:r>
          </a:p>
          <a:p>
            <a:r>
              <a:t>- These are directional indicators, not precise counts</a:t>
            </a:r>
          </a:p>
          <a:p>
            <a:r>
              <a:t>- PI active/inactive counts are direct from source — high confidence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MODULE 1 — MARKET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0BCD8"/>
                </a:solidFill>
              </a:defRPr>
            </a:pPr>
            <a:r>
              <a:t>NLB Prishtina | Branch Network Transformation |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002B49"/>
                </a:solidFill>
              </a:rPr>
              <a:t>EXECUTIVE INSIGHT:  </a:t>
            </a:r>
            <a:r>
              <a:rPr sz="1000">
                <a:solidFill>
                  <a:srgbClr val="1A1A2E"/>
                </a:solidFill>
              </a:rPr>
              <a:t>NLB Prishtina captures 15.7% of Kosovo’s addressable population (239,351 active PI clients / 1.52M). Only one main Filiali exceeds the 18% threshold individually: Filiali Peje at 18.2%. All other major Filiali remain below target. 84,765 inactive PI clients (26.2%) represent the fastest reactivation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4864" cy="7772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NETWORK PI PENETRATION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B49"/>
                </a:solidFill>
              </a:defRPr>
            </a:pPr>
            <a:r>
              <a:t>15.7%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239,351 active / 1.52M unique pop.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54864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07792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INACTIVE PI CLIENT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9067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84,765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01568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26.2% of total PI base dormant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49040"/>
            <a:ext cx="54864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2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BRANCHES ABOVE 18%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0507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59669"/>
                </a:solidFill>
              </a:defRPr>
            </a:pPr>
            <a:r>
              <a:t>7 of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Only Filiali Peje among main branches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663440"/>
            <a:ext cx="54864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36592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BUSINESS PENETRATION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97706"/>
                </a:solidFill>
              </a:defRPr>
            </a:pPr>
            <a:r>
              <a:t>~8.5%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30368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~12,600 active / ~148,700 businesses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18288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B49"/>
                </a:solidFill>
              </a:defRPr>
            </a:pPr>
            <a:r>
              <a:t>PI RETAIL PENETRATION BY BRANCH (sorted descending)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206240" y="2148840"/>
          <a:ext cx="7589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731520"/>
                <a:gridCol w="914400"/>
                <a:gridCol w="914400"/>
                <a:gridCol w="128016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Pen%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Active PI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Inactive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Hani i Elezit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Hani i Elezit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59669"/>
                          </a:solidFill>
                        </a:defRPr>
                      </a:pPr>
                      <a:r>
                        <a:t>39.7%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3,384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59669"/>
                          </a:solidFill>
                        </a:defRPr>
                      </a:pPr>
                      <a:r>
                        <a:t>Defend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Shterpce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Shterpce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59669"/>
                          </a:solidFill>
                        </a:defRPr>
                      </a:pPr>
                      <a:r>
                        <a:t>27.5%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59669"/>
                          </a:solidFill>
                        </a:defRPr>
                      </a:pPr>
                      <a:r>
                        <a:t>Defend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Decan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Decan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59669"/>
                          </a:solidFill>
                        </a:defRPr>
                      </a:pPr>
                      <a:r>
                        <a:t>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7,528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59669"/>
                          </a:solidFill>
                        </a:defRPr>
                      </a:pPr>
                      <a:r>
                        <a:t>Defend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Kacanik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Kacanik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59669"/>
                          </a:solidFill>
                        </a:defRPr>
                      </a:pPr>
                      <a:r>
                        <a:t>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5,936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1,457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59669"/>
                          </a:solidFill>
                        </a:defRPr>
                      </a:pPr>
                      <a:r>
                        <a:t>Defend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Gracanice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Gracanice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59669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1,232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59669"/>
                          </a:solidFill>
                        </a:defRPr>
                      </a:pPr>
                      <a:r>
                        <a:t>Defend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Peje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Peje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59669"/>
                          </a:solidFill>
                        </a:defRPr>
                      </a:pPr>
                      <a:r>
                        <a:t>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15,022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5,465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59669"/>
                          </a:solidFill>
                        </a:defRPr>
                      </a:pPr>
                      <a:r>
                        <a:t>Defend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Obiliq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Obiliq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59669"/>
                          </a:solidFill>
                        </a:defRPr>
                      </a:pPr>
                      <a:r>
                        <a:t>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4,129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1,069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59669"/>
                          </a:solidFill>
                        </a:defRPr>
                      </a:pPr>
                      <a:r>
                        <a:t>Defend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Drenas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Drenas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7,639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2,347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Istog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Istog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5,112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Skenderaj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Skenderaj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6,061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2,118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Besiane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Podujeve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10,497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2,902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Viti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Viti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5,141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Kline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Kline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4,309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2,574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Kamenice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Kamenice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3,227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Gjilan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Gjilan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11,544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4,037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Mitrovice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Mitrovice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8,497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3,136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Rahovec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Rahovec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5,483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1,907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206240" y="63550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Mitrovice Veriore excluded (structural outlier, 116% pen). Full 30-branch chart in HTML dashboard. Median: 13.1% | Target: 18.0%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BRANCH ACTION GROUPS — PI RETAIL PENETRATION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0BCD8"/>
                </a:solidFill>
              </a:defRPr>
            </a:pPr>
            <a:r>
              <a:t>Recovery / Acceleration / Defend classification based on median (13.1%) and target (18.0%)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566160" cy="237744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</a:defRPr>
            </a:pPr>
            <a:r>
              <a:t>DEFEND / DEEPEN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59669"/>
                </a:solidFill>
              </a:defRPr>
            </a:pPr>
            <a:r>
              <a:t>7 branches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≥18%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Protect base. Deepen cross-sell.</a:t>
            </a:r>
            <a:br/>
            <a:r>
              <a:t>Only Filiali Peje (18.2%) is a main branch.</a:t>
            </a:r>
            <a:br/>
            <a:r>
              <a:t>Others: Hani Elezit, Shterpce, Decan,</a:t>
            </a:r>
            <a:br/>
            <a:r>
              <a:t>Kacanik, Gracanice, Obiliq.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566160" cy="237744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161288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97706"/>
                </a:solidFill>
              </a:defRPr>
            </a:pPr>
            <a:r>
              <a:t>ACCELERATION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417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D97706"/>
                </a:solidFill>
              </a:defRPr>
            </a:pPr>
            <a:r>
              <a:t>10 branches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13.1%–18%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Highest-ROI group. Gap: +15,262 clients.</a:t>
            </a:r>
            <a:br/>
            <a:r>
              <a:t>Priorities: Gjilan (+3,392), Mitrovice</a:t>
            </a:r>
            <a:br/>
            <a:r>
              <a:t>(+3,156), Besiane (+2,278).</a:t>
            </a:r>
            <a:br/>
            <a:r>
              <a:t>Kline: 62.6% active ratio — pilot</a:t>
            </a:r>
            <a:br/>
            <a:r>
              <a:t>for reactivation program.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051560"/>
            <a:ext cx="3566160" cy="237744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61288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DC2626"/>
                </a:solidFill>
              </a:defRPr>
            </a:pPr>
            <a:r>
              <a:t>14 branches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&lt;13.1% median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A1A2E"/>
                </a:solidFill>
              </a:defRPr>
            </a:pPr>
            <a:r>
              <a:t>Nearly half the network. 40,543 inactive.</a:t>
            </a:r>
            <a:br/>
            <a:r>
              <a:t>Core Filiali: Prishtine (7.3%), Prizren</a:t>
            </a:r>
            <a:br/>
            <a:r>
              <a:t>(7.9%), Ferizaj (12.4%), Gjakove (11.2%).</a:t>
            </a:r>
            <a:br/>
            <a:r>
              <a:t>Prizren: worst major city at 10.9% combined.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114300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000" b="1">
                <a:solidFill>
                  <a:srgbClr val="002B49"/>
                </a:solidFill>
              </a:rPr>
              <a:t>REACTIVATION SCENARIO:  </a:t>
            </a:r>
            <a:r>
              <a:rPr sz="900">
                <a:solidFill>
                  <a:srgbClr val="1A1A2E"/>
                </a:solidFill>
              </a:rPr>
              <a:t>The network holds 84,765 inactive PI clients. Reactivating 25% adds 21,191 clients → pen rises from 15.7% to 17.1%. Reactivating 50% → 18.5%. Top pools: 1001 Prishtine (6,976), 0001 Prishtine (5,899), Peje (5,465), Prizren (4,514), Ferizaj (4,386).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B49"/>
                </a:solidFill>
              </a:defRPr>
            </a:pPr>
            <a:r>
              <a:t>PRIORITY ACTIONS — IMMEDIATE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489204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828800"/>
                <a:gridCol w="6217920"/>
              </a:tblGrid>
              <a:tr h="2351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Branch / City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Current Pen%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Management Action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Suhareke (100502)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+165 to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Quick win — one good month closes gap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Ferizaj (1003)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+782 to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19 FTE — focused campaign closes in one quarter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Gjakove (1004)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+1,535 to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3,850 inactive — reactivation exceeds gap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Kline (100602)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+1,181 to 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62.6% active ratio — reactivation pilot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Gjilan (1002)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+3,392 to 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Main Filiali, 12 FTE — dedicated campaign</a:t>
                      </a:r>
                    </a:p>
                  </a:txBody>
                  <a:tcPr/>
                </a:tc>
              </a:tr>
              <a:tr h="2351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Prizren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City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Worst major city — needs city-level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365760" y="6583680"/>
            <a:ext cx="11430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BUSINESS MARKET — THE LARGEST WHITE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0BCD8"/>
                </a:solidFill>
              </a:defRPr>
            </a:pPr>
            <a:r>
              <a:t>Business penetration at ~8.5% vs retail 15.7% — proportionally the bigger structural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000" b="1">
                <a:solidFill>
                  <a:srgbClr val="002B49"/>
                </a:solidFill>
              </a:rPr>
              <a:t>KEY FINDING:  </a:t>
            </a:r>
            <a:r>
              <a:rPr sz="900">
                <a:solidFill>
                  <a:srgbClr val="1A1A2E"/>
                </a:solidFill>
              </a:rPr>
              <a:t>NLB Prishtina captures only ~8.5% of ~148,700 registered businesses. Every major Filiali except those in smaller cities is below the 18% target. Business active ratio (~58.6%) is materially worse than PI (73.8%), signaling higher churn/dormancy in the business segment.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4864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BUSINESS PENETRATION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97706"/>
                </a:solidFill>
              </a:defRPr>
            </a:pPr>
            <a:r>
              <a:t>~8.5%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~12,600 active / ~148,700 businesses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54864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01952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BUSINESS ACTIVE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~58.6%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95728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vs PI active ratio of 73.8%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54864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01952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BIZ BRANCHES ≥18%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59669"/>
                </a:solidFill>
              </a:defRPr>
            </a:pPr>
            <a:r>
              <a:t>11 of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95728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Mostly small ekspoziture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8346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B49"/>
                </a:solidFill>
              </a:defRPr>
            </a:pPr>
            <a:r>
              <a:t>BUSINESS PENETRATION — KEY MARKETS (sorted by opportunity size)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31546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371600"/>
                <a:gridCol w="1828800"/>
                <a:gridCol w="3657600"/>
              </a:tblGrid>
              <a:tr h="2000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Biz Pen%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Population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02B4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1001 Prishtine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Prishtine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227,466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Prishtine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Prishtine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227,466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Prishtine-Llapit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Prishtine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227,466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Bregu i Diellit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Prishtine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227,466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Prizren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Prizren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147,246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Prizren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Prizren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147,246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Ferizaj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Ferizaj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109,255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Gjilan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Gjilan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82,980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Peje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Peje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82,745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Gjakove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Gjakove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78,699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Besiane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Podujeve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70,975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Filiali Mitrovice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Mitrovice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97706"/>
                          </a:solidFill>
                        </a:defRPr>
                      </a:pPr>
                      <a:r>
                        <a:t>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64,742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97706"/>
                          </a:solidFill>
                        </a:defRPr>
                      </a:pPr>
                      <a:r>
                        <a:t>Accel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Mitrovice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Mitrovice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64,742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Fushe Kosove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Fushe Kosove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59669"/>
                          </a:solidFill>
                        </a:defRPr>
                      </a:pPr>
                      <a:r>
                        <a:t>19.3%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63,949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59669"/>
                          </a:solidFill>
                        </a:defRPr>
                      </a:pPr>
                      <a:r>
                        <a:t>Defend</a:t>
                      </a:r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Ekspozitura Vushtrri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Vushtrri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A1A2E"/>
                          </a:solidFill>
                        </a:defRPr>
                      </a:pPr>
                      <a:r>
                        <a:t>61,528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DC2626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Note: Active business account counts are estimated (penetration ratio × registered businesses). Inactive business counts derived from business active ratio. Treat as directional.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