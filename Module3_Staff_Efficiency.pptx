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ACTUAL PRODUCTIVITY OVERVIEW</a:t>
            </a:r>
          </a:p>
          <a:p/>
          <a:p>
            <a:r>
              <a:t>TALKING POINTS:</a:t>
            </a:r>
          </a:p>
          <a:p>
            <a:r>
              <a:t>1. Network median: 914 PI clients per FTE, 48 consumer loans per FTE, EUR 3.1M OnBalance per FTE</a:t>
            </a:r>
          </a:p>
          <a:p>
            <a:r>
              <a:t>2. Critical finding: 73% median cash transaction share — the dominant share of staff time is consumed by low-value manual cash handling</a:t>
            </a:r>
          </a:p>
          <a:p>
            <a:r>
              <a:t>3. 12 branches exceed 75% cash ratio, with Mitrovice 2 (93%), Skenderaj (84%), Obiliq (84%), Decan (80%) as worst cases</a:t>
            </a:r>
          </a:p>
          <a:p>
            <a:r>
              <a:t>4. Top performers: Bregu i Diellit leads on flow intensity (102 cons loans/FTE), Prishtine-Llapit on new accounts (220/FTE)</a:t>
            </a:r>
          </a:p>
          <a:p>
            <a:r>
              <a:t>5. Bottom performers: Ferizaj (19 FTE) scores lowest among main branches — high headcount but below-median consumer lending and high cash burden</a:t>
            </a:r>
          </a:p>
          <a:p>
            <a:r>
              <a:t>6. The productivity gap is not primarily about headcount — it's about what staff are spending their time on</a:t>
            </a:r>
          </a:p>
          <a:p>
            <a:r>
              <a:t>7. Daily services range from 10.0 (Kacanik) to 43.3 (Prishtine) — a 4x spread that signals significant utilization differences</a:t>
            </a:r>
          </a:p>
          <a:p/>
          <a:p>
            <a:r>
              <a:t>MANAGEMENT MESSAGE:</a:t>
            </a:r>
          </a:p>
          <a:p>
            <a:r>
              <a:t>The network's productivity problem is primarily a workload-composition problem, not a staffing-level problem. Staff are spending most of their time on cash transactions instead of commercial activity. Before adding headcount anywhere, the first priority is migrating low-value transactions to digital channels to release capacity for selling.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CASH BURDEN &amp; TRANSACTION ANALYSIS</a:t>
            </a:r>
          </a:p>
          <a:p/>
          <a:p>
            <a:r>
              <a:t>TALKING POINTS:</a:t>
            </a:r>
          </a:p>
          <a:p>
            <a:r>
              <a:t>1. Mitrovice 2 has 93% cash ratio — nearly all branch activity is manual cash handling. With only 5 FTE, the branch has no capacity for commercial activity.</a:t>
            </a:r>
          </a:p>
          <a:p>
            <a:r>
              <a:t>2. Skenderaj (84%), Obiliq (84%), Decan (80%), Suhareke (80%), Mitrovice (81%) — all above 80% threshold</a:t>
            </a:r>
          </a:p>
          <a:p>
            <a:r>
              <a:t>3. The 12 branches above 75% collectively process ~85,000 cash transactions per year. Migrating even 20% to digital channels would release significant staff time.</a:t>
            </a:r>
          </a:p>
          <a:p>
            <a:r>
              <a:t>4. Contrast with Kline (37% cash) and Prishtine (28% cash) — these branches have a healthier digital balance and higher commercial output per FTE</a:t>
            </a:r>
          </a:p>
          <a:p>
            <a:r>
              <a:t>5. The FTE freed estimate (~15-20) is directional: (cash reduction * branch txn volume) / median txn per FTE</a:t>
            </a:r>
          </a:p>
          <a:p>
            <a:r>
              <a:t>6. Released capacity should be redirected toward: consumer lending push, new PI account acquisition, inactive client activation, POS/merchant development</a:t>
            </a:r>
          </a:p>
          <a:p/>
          <a:p>
            <a:r>
              <a:t>MANAGEMENT MESSAGE:</a:t>
            </a:r>
          </a:p>
          <a:p>
            <a:r>
              <a:t>Cash transaction intensity is the primary bottleneck. The issue is not that branches need more tellers — the issue is that teller work consumes too much of the branch. The path to higher productivity runs through digital migration, not additional headcount. Every 10% reduction in cash share at a branch with 8 FTE releases approximately 0.8 FTE-equivalent for commercial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SEGMENT PRODUCTIVITY PER FTE</a:t>
            </a:r>
          </a:p>
          <a:p/>
          <a:p>
            <a:r>
              <a:t>TALKING POINTS:</a:t>
            </a:r>
          </a:p>
          <a:p>
            <a:r>
              <a:t>1. PI portfolio depth: ranges from EUR 0.86M/FTE (Gracanice) to EUR 5.52M/FTE (1001 Prishtine). Top-heavy concentration.</a:t>
            </a:r>
          </a:p>
          <a:p>
            <a:r>
              <a:t>2. Consumer loans per FTE: Bregu i Diellit leads (102/FTE) despite having only 4 FTE. Ferizaj (41/FTE) underperforms with 19 FTE.</a:t>
            </a:r>
          </a:p>
          <a:p>
            <a:r>
              <a:t>3. Micro presence is highly uneven: Kacanik leads on micro loans/FTE (18.0), Lipjan on micro portfolio/FTE (EUR 0.78M). 5 branches have zero micro activity.</a:t>
            </a:r>
          </a:p>
          <a:p>
            <a:r>
              <a:t>4. CIB is concentrated: Prishtine 0001 (EUR 8.98M/FTE) and 1001 Prishtine (EUR 5.78M/FTE) dominate. Most ekspoziture have negligible CIB.</a:t>
            </a:r>
          </a:p>
          <a:p>
            <a:r>
              <a:t>5. Cross-sell intensity median is only 0.26 — meaning most branches sell fewer than 0.3 products per active client per year. Bregu i Diellit (0.70) is the outlier.</a:t>
            </a:r>
          </a:p>
          <a:p>
            <a:r>
              <a:t>6. Role-mix assessment: 8 branches are "Teller-Heavy / Sales-Light", 5 are "PI-Only / No Business".</a:t>
            </a:r>
          </a:p>
          <a:p/>
          <a:p>
            <a:r>
              <a:t>MANAGEMENT MESSAGE:</a:t>
            </a:r>
          </a:p>
          <a:p>
            <a:r>
              <a:t>Segment productivity reveals that the issue is not just total output but what staff are producing. Several large branches are underperforming smaller ones on commercial metrics. The network needs role-mix redesign — fewer teller-hours, more advisory and sales time — especially in Recovery branches where market-share gaps demand higher acquisition 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TARGET PRODUCTIVITY</a:t>
            </a:r>
          </a:p>
          <a:p/>
          <a:p>
            <a:r>
              <a:t>TALKING POINTS:</a:t>
            </a:r>
          </a:p>
          <a:p>
            <a:r>
              <a:t>1. Recovery branches (PI pen &lt; 13.1%) need consumer lending targets 15% above current median — not because current output is zero, but because market-share gaps demand acceleration</a:t>
            </a:r>
          </a:p>
          <a:p>
            <a:r>
              <a:t>2. Acceleration branches need incremental push from median toward 18% target — steady improvement, not dramatic shift</a:t>
            </a:r>
          </a:p>
          <a:p>
            <a:r>
              <a:t>3. Defend branches should focus on stock quality, relationship deepening, and cross-sell rather than volume growth</a:t>
            </a:r>
          </a:p>
          <a:p>
            <a:r>
              <a:t>4. Cash reduction targets: branches above 75% → target 60%. This is achievable through POS migration, M-banking push, and branch process redesign</a:t>
            </a:r>
          </a:p>
          <a:p>
            <a:r>
              <a:t>5. The "FTE Freed" column is the most important number on this slide — it shows the productivity dividend from digital migration</a:t>
            </a:r>
          </a:p>
          <a:p>
            <a:r>
              <a:t>6. No branch gets a "do more manual transactions" target. The transaction target is reduction, not growth.</a:t>
            </a:r>
          </a:p>
          <a:p>
            <a:r>
              <a:t>7. Role redesign branches need teller-to-advisor rebalancing, not additional headcount</a:t>
            </a:r>
          </a:p>
          <a:p>
            <a:r>
              <a:t>8. Total network FTE freed from cash reduction: approximately 15-20 FTE-equivalents — enough to staff 3-4 additional sales positions without any new hiring</a:t>
            </a:r>
          </a:p>
          <a:p/>
          <a:p>
            <a:r>
              <a:t>MANAGEMENT MESSAGE:</a:t>
            </a:r>
          </a:p>
          <a:p>
            <a:r>
              <a:t>Target productivity must be achieved primarily through workload redesign, not headcount increase. The single highest-impact lever is cash-to-digital migration. Every branch above 75% cash share should have a 90-day cashless migration plan. The second lever is sales discipline — clear individual targets for consumer lending, new account acquisition, and inactive-client activation. Hiring should only be considered for branches that are already productive AND overloaded.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MANAGEMENT RECOMMENDATIONS</a:t>
            </a:r>
          </a:p>
          <a:p/>
          <a:p>
            <a:r>
              <a:t>TALKING POINTS:</a:t>
            </a:r>
          </a:p>
          <a:p>
            <a:r>
              <a:t>1. Network-wide: the issue is workload composition, not total headcount. 265 FTE is adequate if cash-to-digital migration is executed.</a:t>
            </a:r>
          </a:p>
          <a:p>
            <a:r>
              <a:t>2. Hire/Reinforce: Only justified for branches with proven productivity above median AND visible capacity strain. Do not hire into branches with low output.</a:t>
            </a:r>
          </a:p>
          <a:p>
            <a:r>
              <a:t>3. Role Redesign + Digital Migration: The largest group. These branches have staff spending 75-93% of time on cash transactions. No amount of sales targets will work without reducing the cash burden first.</a:t>
            </a:r>
          </a:p>
          <a:p>
            <a:r>
              <a:t>4. Sales Discipline: These branches have adequate capacity but below-median commercial output. The fix is individual performance targets, weekly tracking, and management accountability — not structural change.</a:t>
            </a:r>
          </a:p>
          <a:p>
            <a:r>
              <a:t>5. Maintain: These are performing adequately. Continue monitoring, set incremental targets.</a:t>
            </a:r>
          </a:p>
          <a:p>
            <a:r>
              <a:t>6. Priority sequence: (a) Deploy cashless migration in 12 cash-heavy branches immediately, (b) Set individual consumer lending targets in all Recovery branches, (c) Evaluate hiring only after 90-day digital migration results, (d) Use freed capacity for inactive PI client activation campaigns.</a:t>
            </a:r>
          </a:p>
          <a:p/>
          <a:p>
            <a:r>
              <a:t>KEY MANAGEMENT DECISIONS REQUIRED:</a:t>
            </a:r>
          </a:p>
          <a:p>
            <a:r>
              <a:t>- Approve 90-day digital migration program for 12 cash-heavy branches</a:t>
            </a:r>
          </a:p>
          <a:p>
            <a:r>
              <a:t>- Set branch-level and individual consumer lending targets linked to M1 market-share recovery</a:t>
            </a:r>
          </a:p>
          <a:p>
            <a:r>
              <a:t>- Review role allocation in branches flagged for redesign</a:t>
            </a:r>
          </a:p>
          <a:p>
            <a:r>
              <a:t>- Defer all hiring decisions until post-migration capacity is measured</a:t>
            </a:r>
          </a:p>
          <a:p>
            <a:r>
              <a:t>- Link M2 POS deployment to branches where micro staff capacity can be released through cash reduction</a:t>
            </a:r>
          </a:p>
          <a:p/>
          <a:p>
            <a:r>
              <a:t>LINKAGE:</a:t>
            </a:r>
          </a:p>
          <a:p>
            <a:r>
              <a:t>- M1 Market Share: Recovery branches with low PI penetration get higher acquisition and lending targets</a:t>
            </a:r>
          </a:p>
          <a:p>
            <a:r>
              <a:t>- M2 Product Mix: Branches flagged for consumer lending push (M2) align with sales discipline recommendation</a:t>
            </a:r>
          </a:p>
          <a:p>
            <a:r>
              <a:t>- M2 POS Strategy: Zero-POS branches overlap with branches needing micro/business segment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Staff Productivity — Actual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0C0"/>
                </a:solidFill>
                <a:latin typeface="Inter"/>
              </a:rPr>
              <a:t>Part 1: What staff are producing today | 31 benchmarked branches | 265 FTE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37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8099B0"/>
                </a:solidFill>
                <a:latin typeface="Inter"/>
              </a:rPr>
              <a:t>MODULE 3 | Staff Efficiency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21488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4864" cy="8229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3327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PI CLIENTS / FTE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914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5448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Median across 31 branches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960120"/>
            <a:ext cx="21488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0" y="960120"/>
            <a:ext cx="54864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103327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CONSUMER LOANS / FTE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2344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48.2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155448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Median — 2025 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960120"/>
            <a:ext cx="21488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96012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103327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CASH TRANSACTION 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12344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73%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155448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Median — teller burden proxy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960120"/>
            <a:ext cx="21488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0" y="960120"/>
            <a:ext cx="54864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103327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DAILY SERVICES / FTE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12344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22.2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155448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Median (28 branches)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18320" y="960120"/>
            <a:ext cx="21488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18320" y="960120"/>
            <a:ext cx="54864" cy="82296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103327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ONBALANCE / FTE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12344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EUR 3.1M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155448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Median stock depth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1920240"/>
            <a:ext cx="11430000" cy="411480"/>
          </a:xfrm>
          <a:prstGeom prst="rect">
            <a:avLst/>
          </a:prstGeom>
          <a:solidFill>
            <a:srgbClr val="EFF6FF"/>
          </a:solidFill>
          <a:ln w="9525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1965960"/>
            <a:ext cx="11210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4A6FA5"/>
                </a:solidFill>
                <a:latin typeface="Inter"/>
              </a:rPr>
              <a:t>SO WHAT: </a:t>
            </a:r>
            <a:r>
              <a:rPr sz="800">
                <a:solidFill>
                  <a:srgbClr val="1A1A2E"/>
                </a:solidFill>
                <a:latin typeface="Inter"/>
              </a:rPr>
              <a:t>73% of branch transactions are cash-based. This is the single largest drag on staff productivity. 12 branches exceed 75% cash share. Released teller capacity should be redirected toward consumer lending, client activation, and advisory. The target is not more manual transactions, but fewer.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274320" y="2468880"/>
          <a:ext cx="8869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57200"/>
                <a:gridCol w="822960"/>
                <a:gridCol w="822960"/>
                <a:gridCol w="822960"/>
                <a:gridCol w="822960"/>
                <a:gridCol w="822960"/>
                <a:gridCol w="640080"/>
                <a:gridCol w="640080"/>
                <a:gridCol w="731520"/>
                <a:gridCol w="640080"/>
              </a:tblGrid>
              <a:tr h="187036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Branch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FTE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PI Cl/FTE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Cons/FTE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NewAcc/FTE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Loans/FTE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OB/FTE M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Cash%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X-Sell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Daily Svc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Score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1001 Prishtine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1307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86.1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11.9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0.310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Fushe Kosove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788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77.2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146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194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58%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0.419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22.7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1.37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Prishtine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59.1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14.2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43.3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Drenas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955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72.2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160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210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3.0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61%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0.378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35.2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1.23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Prishtine-Llapit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91.2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0.410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22.5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Skenderaj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1212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69.2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160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151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83%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0.236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38.1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1.21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Lipjan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56.7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17.9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Obiliq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1032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91.0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146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205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2.5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84%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0.338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16.4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1.20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Hani i Elezit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85.2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0.332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12.8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Bregu i Diellit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609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101.8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179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245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3.0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69%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0.696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14.4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1.15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Besiane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1166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23.9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Gjilan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962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57.5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126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138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4.0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73%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0.268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33.9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1.12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Prizren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1156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36.8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0.183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22.0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Prizren 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755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48.2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208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116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2.3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70%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0.416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1.12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Peje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52.8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27.6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--- Bottom 5 ---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Rahovec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40.8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25.5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Malisheve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730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31.3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114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73%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0.259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19.9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0.86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Shterpce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44.2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12.8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Gracanice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924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41.0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118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73%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0.224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13.5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0.67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87044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Mitrovice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35.6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15.5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743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4A6FA5"/>
                </a:solidFill>
                <a:latin typeface="Inter"/>
              </a:rPr>
              <a:t>Linked: M1 Market Share groups | M2 Product Mix priorities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Transaction Burden — Cash vs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0C0"/>
                </a:solidFill>
                <a:latin typeface="Inter"/>
              </a:rPr>
              <a:t>The single largest drag on staff productivity is manual cash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37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8099B0"/>
                </a:solidFill>
                <a:latin typeface="Inter"/>
              </a:rPr>
              <a:t>MODULE 3 | Staff Efficiency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332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BRANCHES &gt; 75% CASH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10 of 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54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Teller-dominated workload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96012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8960" y="960120"/>
            <a:ext cx="54864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0332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BRANCHES &lt; 50% CASH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234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2 of 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554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Healthier digital balance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96012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960120"/>
            <a:ext cx="54864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10332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AVG CASH TXN / FTE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1234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636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554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Annual cash transactions per employee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96012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78240" y="960120"/>
            <a:ext cx="54864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10332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POTENTIAL FTE FREED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1234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~15-20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1554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If cash &gt;75% reduced to 60%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1920240"/>
            <a:ext cx="11430000" cy="411480"/>
          </a:xfrm>
          <a:prstGeom prst="rect">
            <a:avLst/>
          </a:prstGeom>
          <a:solidFill>
            <a:srgbClr val="EFF6FF"/>
          </a:solidFill>
          <a:ln w="9525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1965960"/>
            <a:ext cx="11210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4A6FA5"/>
                </a:solidFill>
                <a:latin typeface="Inter"/>
              </a:rPr>
              <a:t>SO WHAT: </a:t>
            </a:r>
            <a:r>
              <a:rPr sz="800">
                <a:solidFill>
                  <a:srgbClr val="1A1A2E"/>
                </a:solidFill>
                <a:latin typeface="Inter"/>
              </a:rPr>
              <a:t>The target is not more manual transactions but more cashless migration. If the 12 branches above 75% cash ratio reduced to 60%, approximately 15-20 FTE-equivalents of capacity would be released for consumer lending, PI acquisition, and inactive-client activation.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274320" y="2468880"/>
          <a:ext cx="94183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57200"/>
                <a:gridCol w="822960"/>
                <a:gridCol w="822960"/>
                <a:gridCol w="640080"/>
                <a:gridCol w="640080"/>
                <a:gridCol w="822960"/>
                <a:gridCol w="822960"/>
                <a:gridCol w="914400"/>
                <a:gridCol w="2011680"/>
              </a:tblGrid>
              <a:tr h="195942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Branch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FTE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Total Txn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Cash Txn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Cash %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Cash/FTE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Non-Cash Txn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Cons Loans/FTE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M1 Group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Diagnostic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Mitrovice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3,496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3,255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35.6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Critical — mandatory digital push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Obiliq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2,928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2,470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84%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618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458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91.0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Defend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Critical — mandatory digital push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Skenderaj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8,408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7,017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1403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1,391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69.2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Acceleration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Critical — mandatory digital push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Mitrovice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4,853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3,940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81%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438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913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37.0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Acceleration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Critical — mandatory digital push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Decan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6,643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5,298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1,345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44.2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Defend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High — accelerate cashless shift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Suhareke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11,129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8,853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80%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1265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2,276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47.0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High — accelerate cashless shift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Hani i Elezit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2,254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1,767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85.2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Defend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High — accelerate cashless shift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Gjakove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10,342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8,072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78%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807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2,270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46.3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High — accelerate cashless shift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Prishtine-Llapit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4,055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3,120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91.2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High — accelerate cashless shift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Shterpce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2,588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1,974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76%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494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614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44.2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Defend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High — accelerate cashless shift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Vushtrri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4,005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2,947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1,058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48.6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Moderate — continue migration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Kamenice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2,791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2,052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74%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513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739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43.8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Acceleration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Moderate — continue migration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Gjilan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15,271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11,185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4,086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57.5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Acceleration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Moderate — continue migration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Gracanice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2,752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2,012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73%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503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740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41.0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Defend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Moderate — continue migration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Malisheve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4,310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3,151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1,159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31.3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Moderate — continue migration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Kacanik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3,153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2,294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73%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382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859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48.2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Defend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Moderate — continue migration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Ferizaj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13,905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9,899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4,006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41.2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Moderate — continue migration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Prizren 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4,542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3,165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70%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528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1,377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48.2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Moderate — continue migration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Rahovec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5,628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3,898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1,730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40.8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Acceleration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Moderate — continue migration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596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Bregu i Diellit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2,147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1,471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69%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368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676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101.8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Moderate — continue migration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Segment Productivity per FTE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0C0"/>
                </a:solidFill>
                <a:latin typeface="Inter"/>
              </a:rPr>
              <a:t>PI lending, Micro portfolio depth, and business segment coverage by branch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37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8099B0"/>
                </a:solidFill>
                <a:latin typeface="Inter"/>
              </a:rPr>
              <a:t>MODULE 3 | Staff Efficiency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1828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4864" cy="8229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332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PI OB / FTE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EUR 1.6M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54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Median PI portfolio depth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960120"/>
            <a:ext cx="1828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960120"/>
            <a:ext cx="54864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10332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MICRO OB / FTE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234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EUR 0.43M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1554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Median micro depth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960120"/>
            <a:ext cx="1828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960120"/>
            <a:ext cx="54864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0332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CONS LOANS / FTE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234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48.2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1554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Median flow output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960120"/>
            <a:ext cx="1828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960120"/>
            <a:ext cx="54864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0332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NEW ACCOUNTS / FTE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234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126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554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Median acquisition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960120"/>
            <a:ext cx="1828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960120"/>
            <a:ext cx="54864" cy="82296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10332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CROSS-SELL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1234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0.259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1554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Median intensity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2720" y="960120"/>
            <a:ext cx="1828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332720" y="960120"/>
            <a:ext cx="54864" cy="8229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69880" y="10332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DEPOSITS / FTE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1234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EUR 3.8M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9880" y="1554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Median deposit depth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1920240"/>
            <a:ext cx="11430000" cy="411480"/>
          </a:xfrm>
          <a:prstGeom prst="rect">
            <a:avLst/>
          </a:prstGeom>
          <a:solidFill>
            <a:srgbClr val="EFF6FF"/>
          </a:solidFill>
          <a:ln w="9525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1965960"/>
            <a:ext cx="11210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4A6FA5"/>
                </a:solidFill>
                <a:latin typeface="Inter"/>
              </a:rPr>
              <a:t>SO WHAT: </a:t>
            </a:r>
            <a:r>
              <a:rPr sz="800">
                <a:solidFill>
                  <a:srgbClr val="1A1A2E"/>
                </a:solidFill>
                <a:latin typeface="Inter"/>
              </a:rPr>
              <a:t>PI lending productivity varies 3x across branches. Branches like Ferizaj (19 FTE) underperform smaller branches on consumer loans/FTE. Micro portfolio depth is concentrated in a few branches — 5 branches have zero or near-zero micro presence. CIB is dominated by Prishtine main branches. This is a role-allocation problem, not just a staffing problem.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274320" y="2468880"/>
          <a:ext cx="9052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"/>
                <a:gridCol w="640080"/>
                <a:gridCol w="731520"/>
                <a:gridCol w="731520"/>
                <a:gridCol w="731520"/>
                <a:gridCol w="731520"/>
                <a:gridCol w="731520"/>
                <a:gridCol w="731520"/>
                <a:gridCol w="640080"/>
                <a:gridCol w="1645920"/>
              </a:tblGrid>
              <a:tr h="195942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Branch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FTE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Type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PI OB/FTE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Cons/FTE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NewAcc/FTE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Micro OB/FTE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Micro Ln/FTE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CIB OB/FTE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X-Sell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Role Mix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1001 Prishtine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Main Bra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5.52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86.1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5.78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0.310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Sales-Strong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Fushe Kosove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Large Ek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2.67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77.2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146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0.65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7.5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2.85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0.419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Sales-Strong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Prishtine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Main Bra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59.1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Adequate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Drenas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Large Ek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2.33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72.2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160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0.44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9.6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0.378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Sales-Strong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Prishtine-Llapit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Standard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2.91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91.2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0.410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Balanced but Cash-Bu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Skenderaj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Standard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1.34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69.2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160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0.50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24.4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1.34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0.236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Balanced but Cash-Bu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Lipjan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Standard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56.7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14.2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Adequate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Obiliq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Small Ek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2.19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91.0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146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0.16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0.15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0.338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Balanced but Cash-Bu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Hani i Elezit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Small 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85.2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0.332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Balanced but Cash-Bu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Bregu i Diellit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Small Ek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3.03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101.8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179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0.01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0.696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Sales-Strong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Besiane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Large 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Sales-Strong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Gjilan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Large Ek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2.90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57.5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126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0.78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0.268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Balanced but Cash-Bu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Prizren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Large 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36.8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13.1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3.38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0.183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Adequate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Prizren 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Standard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1.84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48.2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208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0.39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10.3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0.03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0.416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Sales-Strong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Peje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Main Bra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52.8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2.43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Adequate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Gjakove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Large Ek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2.46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46.3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134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0.32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4.1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1.69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0.264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Balanced but Cash-Bu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Viti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Standard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36.4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12.6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2.46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Adequate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Decan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Standard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1.07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44.2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126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6.5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1.08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0.191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Balanced but Cash-Bu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Istog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Standard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53.8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Adequate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596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Ferizaj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Main Bra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1.78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41.2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0.57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9.8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2.08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0.285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Adequate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2743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Note: All "per employee" metrics use total branch FTE — no role-level headcount breakdown available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Target Productivity — Closing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0C0"/>
                </a:solidFill>
                <a:latin typeface="Inter"/>
              </a:rPr>
              <a:t>Part 2: What staff should produce next | Targets linked to M1 Market Share &amp; M2 Product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37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8099B0"/>
                </a:solidFill>
                <a:latin typeface="Inter"/>
              </a:rPr>
              <a:t>MODULE 3 | Staff Efficiency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332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RECOVERY BRANCHES (M1)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54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Need higher acquisition + lending targets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96012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8960" y="960120"/>
            <a:ext cx="54864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0332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ACCELERATION BRANCHES (M1)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234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554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Push from median toward 18% 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96012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960120"/>
            <a:ext cx="54864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10332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DEFEND BRANCHES (M1)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1234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554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Maintain depth + quality focus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96012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78240" y="960120"/>
            <a:ext cx="54864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10332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ROLE REDESIGN 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1234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1554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Cash-to-sales rebalancing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1920240"/>
            <a:ext cx="11430000" cy="411480"/>
          </a:xfrm>
          <a:prstGeom prst="rect">
            <a:avLst/>
          </a:prstGeom>
          <a:solidFill>
            <a:srgbClr val="EFF6FF"/>
          </a:solidFill>
          <a:ln w="9525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1965960"/>
            <a:ext cx="11210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4A6FA5"/>
                </a:solidFill>
                <a:latin typeface="Inter"/>
              </a:rPr>
              <a:t>SO WHAT: </a:t>
            </a:r>
            <a:r>
              <a:rPr sz="800">
                <a:solidFill>
                  <a:srgbClr val="1A1A2E"/>
                </a:solidFill>
                <a:latin typeface="Inter"/>
              </a:rPr>
              <a:t>Targets are derived from market-share gaps (M1), product-mix priorities (M2), and peer-group medians. Recovery branches get 15% uplift targets on consumer lending. Cash-heavy branches get reduction targets, not transaction-increase targets. The freed capacity from digital migration is the primary source of productivity improvement.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274320" y="2468880"/>
          <a:ext cx="88696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57200"/>
                <a:gridCol w="731520"/>
                <a:gridCol w="822960"/>
                <a:gridCol w="822960"/>
                <a:gridCol w="548640"/>
                <a:gridCol w="731520"/>
                <a:gridCol w="731520"/>
                <a:gridCol w="640080"/>
                <a:gridCol w="2011680"/>
              </a:tblGrid>
              <a:tr h="20213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Branch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FTE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M1 Grp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Cons/FTE Now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Cons/FTE Tgt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Gap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Cash% Now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Cash% Tgt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FTE Freed*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Action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</a:tr>
              <a:tr h="20213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Mitrovice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35.6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+19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Role Redesign + Digital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213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Obiliq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Defend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91.0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84%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60%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Digital Migration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20213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Skenderaj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Acceleration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69.2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-0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Digital Migration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213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Mitrovice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Acceleration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37.0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+14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81%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60%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Digital Migration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20213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Decan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Defend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44.2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+7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Maintain + Optimize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213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Suhareke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47.0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+8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80%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60%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2.4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Maintain + Optimize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20213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Hani i Elezit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Defend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85.2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-0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Maintain + Optimize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213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Gjakove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46.3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+9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78%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60%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2.1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Defend Stock + Push Flow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20213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Prishtine-Llapit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91.2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-0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Maintain + Optimize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213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Shterpce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Defend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44.2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+7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76%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60%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Sales Discipline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20213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Vushtrri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48.6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+6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Maintain + Optimize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213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Kamenice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Acceleration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43.8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+7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74%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64%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Maintain + Optimize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20213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Gjilan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Acceleration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57.5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+0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Maintain + Optimize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213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Gracanice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Defend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41.0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+10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73%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63%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Maintain + Optimize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20213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Malisheve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31.3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+24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Sales Discipline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213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Kacanik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Defend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48.2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+3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73%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63%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Maintain + Optimize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20213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Ferizaj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41.2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+14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Sales Discipline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21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Prizren 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48.2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+7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70%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60%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Maintain + Optimize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27432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* FTE Freed = directional estimate of capacity released if cash ratio reduced to target level. Not a headcount reduction — redeploy to commercial activity.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Management Actions — Branch-by-Branch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B0C0"/>
                </a:solidFill>
                <a:latin typeface="Inter"/>
              </a:rPr>
              <a:t>Explicit recommendations linked to M1 Market Share, M2 Product Mix, and Part 1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37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8099B0"/>
                </a:solidFill>
                <a:latin typeface="Inter"/>
              </a:rPr>
              <a:t>MODULE 3 | Staff Efficiency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4864" cy="8229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332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HIRE / REINFORCE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1 branches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54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Strong productivity + overloaded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96012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8960" y="96012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0332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ROLE REDESIGN /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234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4 branches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554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Cash-heavy + weak commercial 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96012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960120"/>
            <a:ext cx="54864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10332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SALES DISCIPLINE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1234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6 branches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554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Below-median sales + adequate capacity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96012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78240" y="960120"/>
            <a:ext cx="54864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10332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MAINTAIN / OPTIMIZE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1234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2B49"/>
                </a:solidFill>
                <a:latin typeface="Inter"/>
              </a:rPr>
              <a:t>20 branches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1554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Inter"/>
              </a:rPr>
              <a:t>Adequate performance + monitor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1920240"/>
            <a:ext cx="11430000" cy="411480"/>
          </a:xfrm>
          <a:prstGeom prst="rect">
            <a:avLst/>
          </a:prstGeom>
          <a:solidFill>
            <a:srgbClr val="EFF6FF"/>
          </a:solidFill>
          <a:ln w="9525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1965960"/>
            <a:ext cx="11210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4A6FA5"/>
                </a:solidFill>
                <a:latin typeface="Inter"/>
              </a:rPr>
              <a:t>SO WHAT: </a:t>
            </a:r>
            <a:r>
              <a:rPr sz="800">
                <a:solidFill>
                  <a:srgbClr val="1A1A2E"/>
                </a:solidFill>
                <a:latin typeface="Inter"/>
              </a:rPr>
              <a:t>Only 1 branches justify additional hiring — the rest need workload redesign, digital migration, or stronger sales discipline. The network has sufficient total FTE; the issue is allocation and activity composition, not raw headcount.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274320" y="2468880"/>
          <a:ext cx="8869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65760"/>
                <a:gridCol w="731520"/>
                <a:gridCol w="548640"/>
                <a:gridCol w="640080"/>
                <a:gridCol w="548640"/>
                <a:gridCol w="1645920"/>
                <a:gridCol w="3200400"/>
              </a:tblGrid>
              <a:tr h="187036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Branch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FTE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M1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Cash%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Cons/FTE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Score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Action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Inter"/>
                        </a:rPr>
                        <a:t>Recommendation</a:t>
                      </a:r>
                    </a:p>
                  </a:txBody>
                  <a:tcPr anchor="ctr">
                    <a:solidFill>
                      <a:srgbClr val="002B49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1001 Prishtine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86.1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Hire / Reinforce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Strong output (86 cons/FTE, 1307 PI/FTE). Consider +1 FTE for PI acquisition.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Fushe Kosove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58%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77.2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1.37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Defend Stock + Push Flow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Strong stock (EUR 6.2M/FTE) but flow needs push. Focus on new production volume.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Prishtine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27%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59.1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Defend Stock + Push 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Strong stock (EUR 14.2M/FTE) but flow needs push. Focus on new production volume.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Lipjan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66%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56.7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1.20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Defend Stock + Push Flow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Strong stock (EUR 5.6M/FTE) but flow needs push. Focus on new production volume.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Peje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Defend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52.8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Defend Stock + Push 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Strong stock (EUR 4.4M/FTE) but flow needs push. Focus on new production volume.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Gjakove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78%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46.3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1.09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Defend Stock + Push Flow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Strong stock (EUR 4.5M/FTE) but flow needs push. Focus on new production volume.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Mitrovice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35.6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Role Redesign + Digital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High cash (93%) + weak sales (36 cons/FTE). Shift teller hours to advisory.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Skenderaj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Acceleration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83%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69.2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1.21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Digital Migration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83% cash ratio unsustainable. Migrate to digital. Released capacity to consumer lending.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Obiliq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Defend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Digital Migration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84% cash ratio unsustainable. Migrate to digital. Released capacity to consumer lending.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Mitrovice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Acceleration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81%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37.0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0.94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Digital Migration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81% cash ratio unsustainable. Migrate to digital. Released capacity to consumer lending.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Prizren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36.8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Sales Discipline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Below-median output. Set individual targets. Reactivation pool: 4514 inactive PI.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Viti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Acceleration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55%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36.4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1.06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Sales Discipline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Below-median output. Set individual targets. Reactivation pool: 1720 inactive PI.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Ferizaj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41.2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Sales Discipline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Below-median output. Set individual targets. Reactivation pool: 4386 inactive PI.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Kline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Acceleration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37%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32.7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0.93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Sales Discipline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Below-median output. Set individual targets. Reactivation pool: 2574 inactive PI.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Malisheve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31.3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Sales Discipline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Below-median output. Set individual targets. Reactivation pool: 1532 inactive PI.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Shterpce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Defend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76%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44.2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0.84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Sales Discipline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Below-median output. Set individual targets. 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Drenas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Acceleration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Maintain + Optimize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Adequate performance. Monitor trends. Incremental improvement.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Prishtine-Llapit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77%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91.2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1.23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Maintain + Optimize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Adequate performance. Monitor trends. Incremental improvement.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Hani i Elezit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Defend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78%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85.2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Maintain + Optimize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Adequate performance. Monitor trends. Focus on retention.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036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Bregu i Diellit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Recovery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69%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101.8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1.15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Maintain + Optimize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Adequate performance. Monitor trends. Incremental improvement.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187044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Besiane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Acceleration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63%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42.2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1.15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Maintain + Optimize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A1A2E"/>
                          </a:solidFill>
                          <a:latin typeface="Inter"/>
                        </a:rPr>
                        <a:t>Adequate performance. Monitor trends. Incremental improvement.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4A6FA5"/>
                </a:solidFill>
                <a:latin typeface="Inter"/>
              </a:rPr>
              <a:t>Full 31-branch detail in HTML Branch Intelligence Dashboard | Module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